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397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89" r:id="rId45"/>
    <p:sldId id="264" r:id="rId20"/>
    <p:sldId id="265" r:id="rId21"/>
    <p:sldId id="266" r:id="rId22"/>
    <p:sldId id="267" r:id="rId23"/>
    <p:sldId id="288" r:id="rId44"/>
    <p:sldId id="268" r:id="rId24"/>
    <p:sldId id="269" r:id="rId25"/>
    <p:sldId id="287" r:id="rId43"/>
    <p:sldId id="270" r:id="rId26"/>
    <p:sldId id="271" r:id="rId27"/>
    <p:sldId id="272" r:id="rId28"/>
    <p:sldId id="273" r:id="rId29"/>
    <p:sldId id="274" r:id="rId30"/>
    <p:sldId id="286" r:id="rId42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873BD37-0A4B-4A66-9927-4BB2253D0FE1}">
          <p14:sldIdLst/>
        </p14:section>
        <p14:section name="いただいていた情報" id="{DD873206-5943-4484-A1D4-06977CB94B0F}">
          <p14:sldIdLst/>
        </p14:section>
        <p14:section name="アクションプラン案" id="{3809D747-99BD-482A-9DA3-4CC7BBA781D4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64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E6FF"/>
    <a:srgbClr val="2F2F2F"/>
    <a:srgbClr val="666666"/>
    <a:srgbClr val="000000"/>
    <a:srgbClr val="8661C5"/>
    <a:srgbClr val="D59DFF"/>
    <a:srgbClr val="0069BA"/>
    <a:srgbClr val="9BF00B"/>
    <a:srgbClr val="0F78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>
        <p:guide orient="horz" pos="6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D4086-6760-4A07-A2C0-2C57329AC766}" type="datetime8">
              <a:rPr lang="en-US" altLang="ja-JP" smtClean="0">
                <a:latin typeface="Segoe UI" pitchFamily="34" charset="0"/>
              </a:rPr>
              <a:t>2/3/2026 2:53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03A3E576-4155-45F8-A593-6555FE5C48FD}" type="datetime8">
              <a:rPr lang="en-US" altLang="ja-JP" smtClean="0"/>
              <a:t>2/3/2026 2:53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gets a custom architecture diagram added by post-processing.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 layered-defense diagram added by post-processing.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📌 Generated by: https://github.com/aktsmm/Agent-Skills/tree/main/powerpoint-automation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</a:t>
            </a:r>
          </a:p>
          <a:p>
            <a:r>
              <a:t>🔧 This presentation was created using Ag-ppt-create</a:t>
            </a:r>
          </a:p>
          <a:p>
            <a:r>
              <a:t>https://github.com/aktsmm/Agent-Skills/tree/main/powerpoint-automation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54B7E-5968-7EEC-4798-C94D2585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11CDEF-3B7F-DD63-F943-9C77EFBA3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654D6-4D98-F4D8-1B0E-B5FFF2F1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AFD7-27EC-4AAC-9148-071552814DE8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B2DED-5CB1-7866-9A05-DE97265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3586D-278E-D36F-E08E-41B3CC45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76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264D3-2858-4508-9323-A448B683F999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43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260348" cy="687298"/>
          </a:xfrm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6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EF27-197B-424C-8D2E-B3D85D11400C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F737D20-642B-FF52-1398-DEB9E9031A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0572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EAB70-9C2C-1F54-1791-F3CC8440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0666"/>
            <a:ext cx="10515600" cy="2852737"/>
          </a:xfrm>
        </p:spPr>
        <p:txBody>
          <a:bodyPr anchor="b"/>
          <a:lstStyle>
            <a:lvl1pPr>
              <a:defRPr sz="6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0383DC-EAFC-666C-B83B-2CBBB52D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0978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401C1-F1FB-8E05-7412-2161C83E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E8DA29A1-2D04-4FAF-806C-C63B316ECD02}" type="datetime1">
              <a:rPr lang="ja-JP" altLang="en-US" smtClean="0"/>
              <a:t>2026/2/3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7BEDB-2A54-2D65-A2BA-227D2F1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AE3F8-D30F-3C32-541D-BEFE422A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A4C7EE5-525F-42BC-A0F7-BD37EC376DF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2670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867024"/>
            <a:ext cx="9144000" cy="66479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46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125308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4E2E4B-928C-236E-5CEB-C19D8970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041812" cy="6872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2CD2D-C6E9-3249-BE29-C79211049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826" y="944367"/>
            <a:ext cx="11041812" cy="527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1F4-5F86-5766-C9C3-6F4D8A3A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CEB4A-72BC-4164-BE3F-B53EA82F5E0D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6D1E1-6953-851D-7828-5556EA65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25ECB-C4ED-013F-602D-F30AC370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92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98" r:id="rId1"/>
    <p:sldLayoutId id="2147485399" r:id="rId2"/>
    <p:sldLayoutId id="2147485405" r:id="rId3"/>
    <p:sldLayoutId id="2147485400" r:id="rId4"/>
    <p:sldLayoutId id="214748540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TizenClaw: First Principles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5723"/>
            <a:ext cx="9144000" cy="1655762"/>
          </a:xfrm>
        </p:spPr>
        <p:txBody>
          <a:bodyPr/>
          <a:lstStyle/>
          <a:p>
            <a:r>
              <a:t>How an AI agent lives inside a Tizen device — designed from scratch for intent-driven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build up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TizenClaw exists: the shift from menus to intent</a:t>
            </a:r>
          </a:p>
          <a:p>
            <a:pPr/>
            <a:r>
              <a:t>What is an AI agent? (not a chatbot)</a:t>
            </a:r>
          </a:p>
          <a:p>
            <a:pPr/>
            <a:r>
              <a:t>The ReAct loop: the heartbeat of every agent</a:t>
            </a:r>
          </a:p>
          <a:p>
            <a:pPr/>
            <a:r>
              <a:t>TizenClaw's architecture from a bird's-eye view</a:t>
            </a:r>
          </a:p>
          <a:p>
            <a:pPr/>
            <a:r>
              <a:t>How one prompt actually flows through the system</a:t>
            </a:r>
          </a:p>
          <a:p>
            <a:pPr/>
            <a:r>
              <a:t>Tools vs Skills: the two-track extensibility model</a:t>
            </a:r>
          </a:p>
          <a:p>
            <a:pPr/>
            <a:r>
              <a:t>Memory, safety, multi-agent, autonomy</a:t>
            </a:r>
          </a:p>
          <a:p>
            <a:pPr/>
            <a:r>
              <a:t>Design trade-offs and what you can take 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Part 1: The Why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shift: from menus to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Traditional UIs force users to learn the system — find the menu, open settings, tap three times</a:t>
            </a:r>
          </a:p>
          <a:p>
            <a:pPr/>
            <a:r>
              <a:t>An intent-driven UI flips this: the user states a goal in their own words, the system figures out the steps</a:t>
            </a:r>
          </a:p>
          <a:p>
            <a:pPr/>
            <a:r>
              <a:t>"Turn on Bluetooth and connect my headphones" becomes the interface — not a six-tap journey</a:t>
            </a:r>
          </a:p>
          <a:p>
            <a:pPr/>
            <a:r>
              <a:t>TizenClaw is the daemon that makes this shift possible on Tizen devices (TVs, appliances, wearables)</a:t>
            </a:r>
          </a:p>
          <a:p>
            <a:pPr/>
            <a:r>
              <a:t>The device stops being a collection of screens and starts being an entity you can talk 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principles that guided the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Principle 1 — Intent beats navigation: let the user describe goals, not steps</a:t>
            </a:r>
          </a:p>
          <a:p>
            <a:pPr/>
            <a:r>
              <a:t>Principle 2 — Separation of concerns: the LLM reasons, executable tools act, skills teach judgment</a:t>
            </a:r>
          </a:p>
          <a:p>
            <a:pPr/>
            <a:r>
              <a:t>Principle 3 — Pluggable everything: LLM providers, platforms, tools, skills, channels — nothing hardcoded</a:t>
            </a:r>
          </a:p>
          <a:p>
            <a:pPr/>
            <a:r>
              <a:t>Principle 4 — Fail gracefully: fall back to another LLM, degrade to generic Linux, never crash the device</a:t>
            </a:r>
          </a:p>
          <a:p>
            <a:pPr/>
            <a:r>
              <a:t>Principle 5 — Memory safety: Rust eliminates entire classes of bugs that embedded C/C++ daemons struggle with</a:t>
            </a:r>
          </a:p>
          <a:p>
            <a:pPr/>
            <a:r>
              <a:t>Principle 6 — Safety in layers: every dangerous action passes multiple independent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Part 2: What is an AI agent?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 vs Agent — a critical distinction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Stateless: each request is independent</a:t>
            </a:r>
          </a:p>
          <a:p>
            <a:pPr/>
            <a:r>
              <a:t>Returns text only</a:t>
            </a:r>
          </a:p>
          <a:p>
            <a:pPr/>
            <a:r>
              <a:t>Cannot touch the outside world</a:t>
            </a:r>
          </a:p>
          <a:p>
            <a:pPr/>
            <a:r>
              <a:t>User handles follow-up actions manually</a:t>
            </a:r>
          </a:p>
          <a:p>
            <a:pPr/>
            <a:r>
              <a:t>One turn and done</a:t>
            </a:r>
          </a:p>
          <a:p>
            <a:pPr/>
            <a:r>
              <a:t>Stateful: carries conversation + memory forward</a:t>
            </a:r>
          </a:p>
          <a:p>
            <a:pPr/>
            <a:r>
              <a:t>Returns text OR tool invocations</a:t>
            </a:r>
          </a:p>
          <a:p>
            <a:pPr/>
            <a:r>
              <a:t>Acts on the world through registered tools</a:t>
            </a:r>
          </a:p>
          <a:p>
            <a:pPr/>
            <a:r>
              <a:t>Executes multi-step plans autonomously</a:t>
            </a:r>
          </a:p>
          <a:p>
            <a:pPr/>
            <a:r>
              <a:t>Keeps looping until the goal is met or a limit is hit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ReAct loop — Reason, Act, Observe,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agent sends the user's prompt plus available tools to the LLM</a:t>
            </a:r>
          </a:p>
          <a:p>
            <a:pPr/>
            <a:r>
              <a:t>Reason: the LLM returns EITHER a final answer OR a structured request to call a tool</a:t>
            </a:r>
          </a:p>
          <a:p>
            <a:pPr/>
            <a:r>
              <a:t>Act: if a tool was requested, the daemon executes it (a subprocess, a system call, a query)</a:t>
            </a:r>
          </a:p>
          <a:p>
            <a:pPr/>
            <a:r>
              <a:t>Observe: the tool's output is fed back to the LLM as context for the next step</a:t>
            </a:r>
          </a:p>
          <a:p>
            <a:pPr/>
            <a:r>
              <a:t>Repeat: the loop continues — plan, call, observe — until the LLM decides it's done</a:t>
            </a:r>
          </a:p>
          <a:p>
            <a:pPr/>
            <a:r>
              <a:t>A natural termination cap (or a policy cap) prevents runaway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tools are the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 LLM alone is a sealed brain — it can think brilliantly but cannot flip a switch</a:t>
            </a:r>
          </a:p>
          <a:p>
            <a:pPr/>
            <a:r>
              <a:t>Tools are the agent's hands: each one is a named capability with a typed input schema</a:t>
            </a:r>
          </a:p>
          <a:p>
            <a:pPr/>
            <a:r>
              <a:t>The LLM picks WHICH tool and WHAT arguments; the daemon enforces HOW it runs</a:t>
            </a:r>
          </a:p>
          <a:p>
            <a:pPr/>
            <a:r>
              <a:t>This separation is the whole game: the model decides, the system executes under rules</a:t>
            </a:r>
          </a:p>
          <a:p>
            <a:pPr/>
            <a:r>
              <a:t>Without tools, there is no agent — only a chat session with good intentions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agent is a composition, not a single 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LLM — the reasoning engine (Gemini, Claude, GPT, Ollama, or a custom plugin)</a:t>
            </a:r>
          </a:p>
          <a:p>
            <a:pPr/>
            <a:r>
              <a:t>Tools — the executable hands (binaries, scripts, internal functions with JSON-schema inputs)</a:t>
            </a:r>
          </a:p>
          <a:p>
            <a:pPr/>
            <a:r>
              <a:t>Memory — short-term (conversation history) and long-term (facts, preferences, retrieved documents)</a:t>
            </a:r>
          </a:p>
          <a:p>
            <a:pPr/>
            <a:r>
              <a:t>Safety — policy gates that decide what the agent may attempt, at multiple layers</a:t>
            </a:r>
          </a:p>
          <a:p>
            <a:pPr/>
            <a:r>
              <a:t>Loop — the state machine that drives reason-act-observe-repeat until termination</a:t>
            </a:r>
          </a:p>
          <a:p>
            <a:pPr/>
            <a:r>
              <a:t>Context builder — the glue that assembles everything into a single well-structured system prompt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Part 3: The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tiers, clearly separated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Tier 1 — Main daemon: AgentCore, the ReAct loop, memory, policies, channels</a:t>
            </a:r>
          </a:p>
          <a:p>
            <a:pPr/>
            <a:r>
              <a:t>Tier 2 — Tool executor: a separate sandboxed process that actually runs dangerous commands</a:t>
            </a:r>
          </a:p>
          <a:p>
            <a:pPr/>
            <a:r>
              <a:t>Tier 3 — FFI bridge: C-ABI libraries so legacy C/C++ Tizen apps can talk to the agent</a:t>
            </a:r>
          </a:p>
          <a:p>
            <a:pPr/>
            <a:r>
              <a:t>The tiers communicate via abstract Unix domain sockets and JSON-RPC 2.0 framing</a:t>
            </a:r>
          </a:p>
          <a:p>
            <a:pPr/>
            <a:r>
              <a:t>Process separation means a misbehaving tool cannot corrupt the agent's memory space</a:t>
            </a:r>
          </a:p>
          <a:p>
            <a:pPr/>
            <a:r>
              <a:t>The CLI and the web dashboard are just two clients of the same IPC — they share no code with the daemon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life of a single prompt — what actually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A client sends a natural-language prompt over an abstract Unix socket</a:t>
            </a:r>
          </a:p>
          <a:p>
            <a:pPr/>
            <a:r>
              <a:t>2. The daemon appends the message to the session transcript (a file, not a SQL row)</a:t>
            </a:r>
          </a:p>
          <a:p>
            <a:pPr/>
            <a:r>
              <a:t>3. It loads recent conversation history and retrieves relevant long-term memories</a:t>
            </a:r>
          </a:p>
          <a:p>
            <a:pPr/>
            <a:r>
              <a:t>4. It assembles the system prompt — identity + persona + tools + skills + memory + context</a:t>
            </a:r>
          </a:p>
          <a:p>
            <a:pPr/>
            <a:r>
              <a:t>5. It enters the loop: call the LLM, execute tool calls, feed results back, repeat</a:t>
            </a:r>
          </a:p>
          <a:p>
            <a:pPr/>
            <a:r>
              <a:t>6. Every tool call passes through safety and policy gates before execution</a:t>
            </a:r>
          </a:p>
          <a:p>
            <a:pPr/>
            <a:r>
              <a:t>7. Token usage is recorded; the final answer is appended to the transcript and returned</a:t>
            </a:r>
          </a:p>
          <a:p>
            <a:pPr/>
            <a:r>
              <a:t>8. No single step blocks — concurrent callers share the same AgentCore through fine-grained locks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goes into a system prompt? (the context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 identity prompt — "you are TizenClaw, running on a Tizen device"</a:t>
            </a:r>
          </a:p>
          <a:p>
            <a:pPr/>
            <a:r>
              <a:t>Optional SOUL persona — tone, voice, values. Lets the product feel consistent</a:t>
            </a:r>
          </a:p>
          <a:p>
            <a:pPr/>
            <a:r>
              <a:t>Tool declarations — a structured list of callable capabilities with descriptions and schemas</a:t>
            </a:r>
          </a:p>
          <a:p>
            <a:pPr/>
            <a:r>
              <a:t>Textual skills — short markdown guides that teach the LLM HOW to use the tools wisely</a:t>
            </a:r>
          </a:p>
          <a:p>
            <a:pPr/>
            <a:r>
              <a:t>Long-term memory — relevant facts the agent has learned about the user or device</a:t>
            </a:r>
          </a:p>
          <a:p>
            <a:pPr/>
            <a:r>
              <a:t>Runtime context — device info, battery, network state, current time, model in use</a:t>
            </a:r>
          </a:p>
          <a:p>
            <a:pPr/>
            <a:r>
              <a:t>Conversation history — recent turns, windowed and sometimes compacted for token budget</a:t>
            </a:r>
          </a:p>
          <a:p>
            <a:pPr/>
            <a:r>
              <a:t>All of this is rebuilt on every turn; the LLM never sees a stale prompt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vs Skills — the two-track extensibility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Real code: a binary or script</a:t>
            </a:r>
          </a:p>
          <a:p>
            <a:pPr/>
            <a:r>
              <a:t>Declared with a manifest (name, description, parameters)</a:t>
            </a:r>
          </a:p>
          <a:p>
            <a:pPr/>
            <a:r>
              <a:t>Invoked by name with JSON arguments</a:t>
            </a:r>
          </a:p>
          <a:p>
            <a:pPr/>
            <a:r>
              <a:t>Adds new capabilities to the agent</a:t>
            </a:r>
          </a:p>
          <a:p>
            <a:pPr/>
            <a:r>
              <a:t>Requires deployment but no daemon rebuild</a:t>
            </a:r>
          </a:p>
          <a:p>
            <a:pPr/>
            <a:r>
              <a:t>Markdown files — no code at all</a:t>
            </a:r>
          </a:p>
          <a:p>
            <a:pPr/>
            <a:r>
              <a:t>Inserted into the system prompt</a:t>
            </a:r>
          </a:p>
          <a:p>
            <a:pPr/>
            <a:r>
              <a:t>Teach the LLM HOW and WHEN to use existing tools</a:t>
            </a:r>
          </a:p>
          <a:p>
            <a:pPr/>
            <a:r>
              <a:t>Adds judgment, not capability</a:t>
            </a:r>
          </a:p>
          <a:p>
            <a:pPr/>
            <a:r>
              <a:t>Hot-reloaded from disk — push a file, skill is live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backends — an abstraction over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 providers hide behind a single trait: initialize, chat, get_name, shutdown</a:t>
            </a:r>
          </a:p>
          <a:p>
            <a:pPr/>
            <a:r>
              <a:t>Built-in: Google Gemini, OpenAI / xAI, Anthropic Claude, local Ollama</a:t>
            </a:r>
          </a:p>
          <a:p>
            <a:pPr/>
            <a:r>
              <a:t>Configured by JSON — one primary backend plus an ordered fallback chain</a:t>
            </a:r>
          </a:p>
          <a:p>
            <a:pPr/>
            <a:r>
              <a:t>A circuit breaker tracks failures per backend; after two consecutive errors it pauses for 60 seconds</a:t>
            </a:r>
          </a:p>
          <a:p>
            <a:pPr/>
            <a:r>
              <a:t>Custom providers can be shipped as C-ABI plugins loaded at runtime — no daemon rebuild</a:t>
            </a:r>
          </a:p>
          <a:p>
            <a:pPr/>
            <a:r>
              <a:t>The agent does not care who is behind the curtain; the loop looks identical to every backend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— short-term vs long-term,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Short-term = conversation transcript — per-session files on disk (Markdown + JSONL)</a:t>
            </a:r>
          </a:p>
          <a:p>
            <a:pPr/>
            <a:r>
              <a:t>Why files, not SQL? Atomic appends, crash safety on flash, human-readable, easy to compact</a:t>
            </a:r>
          </a:p>
          <a:p>
            <a:pPr/>
            <a:r>
              <a:t>Long-term = key-value memories — facts the user wants the agent to remember across sessions</a:t>
            </a:r>
          </a:p>
          <a:p>
            <a:pPr/>
            <a:r>
              <a:t>Retrieval: on each prompt, the agent pulls the top-N most relevant memories by semantic similarity</a:t>
            </a:r>
          </a:p>
          <a:p>
            <a:pPr/>
            <a:r>
              <a:t>Context-window pressure is managed by a compaction engine — summarize, drop, or trim as needed</a:t>
            </a:r>
          </a:p>
          <a:p>
            <a:pPr/>
            <a:r>
              <a:t>No secret state: the agent's memory is inspectable, editable, and backed up by copying a directory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Part 4: Making it safe and robust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in layers — defense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Layer 1 — SafetyGuard: refuses known-dangerous tools and argument patterns outright</a:t>
            </a:r>
          </a:p>
          <a:p>
            <a:pPr/>
            <a:r>
              <a:t>Layer 2 — ToolPolicy: detects loops (same call repeated) and idle progress (same output over and over)</a:t>
            </a:r>
          </a:p>
          <a:p>
            <a:pPr/>
            <a:r>
              <a:t>Layer 3 — Parameter bounds: per-tool min/max ranges, rate limits, role-based restrictions</a:t>
            </a:r>
          </a:p>
          <a:p>
            <a:pPr/>
            <a:r>
              <a:t>Layer 4 — Side-effect classification: irreversible operations are blocked unless explicitly allowed</a:t>
            </a:r>
          </a:p>
          <a:p>
            <a:pPr/>
            <a:r>
              <a:t>Layer 5 — Circuit breaker: unreliable LLM backends are skipped before they waste more tokens</a:t>
            </a:r>
          </a:p>
          <a:p>
            <a:pPr/>
            <a:r>
              <a:t>Layers are independent — each one can reject a call on its own; no single check is load-bearing</a:t>
            </a:r>
          </a:p>
          <a:p>
            <a:pPr/>
            <a:r>
              <a:t>Policies live in JSON configs, not in Rust code — you can tighten behavior without a rebuild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orchestration — one supervisor, many specialists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 orchestrator agent owns the user conversation and decomposes tasks</a:t>
            </a:r>
          </a:p>
          <a:p>
            <a:pPr/>
            <a:r>
              <a:t>Specialists each have a focused system prompt and a restricted tool set — device monitor, task planner, file operator, security auditor, and more</a:t>
            </a:r>
          </a:p>
          <a:p>
            <a:pPr/>
            <a:r>
              <a:t>The orchestrator delegates via a run_supervisor mechanism; specialists spawn as short-lived sub-sessions</a:t>
            </a:r>
          </a:p>
          <a:p>
            <a:pPr/>
            <a:r>
              <a:t>Each specialist sees only the tools appropriate to its role — a file operator cannot schedule tasks</a:t>
            </a:r>
          </a:p>
          <a:p>
            <a:pPr/>
            <a:r>
              <a:t>Results flow back up; the orchestrator synthesizes the final answer</a:t>
            </a:r>
          </a:p>
          <a:p>
            <a:pPr/>
            <a:r>
              <a:t>Why split? Smaller focused prompts are faster, cheaper, and easier to audit than one giant do-everything agent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autonomy — the agent acts without being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system event bus carries device signals: battery changed, app installed, network state flipped</a:t>
            </a:r>
          </a:p>
          <a:p>
            <a:pPr/>
            <a:r>
              <a:t>Autonomous triggers are rules: when event X happens, inject prompt Y into a background session</a:t>
            </a:r>
          </a:p>
          <a:p>
            <a:pPr/>
            <a:r>
              <a:t>The agent runs its ReAct loop on the injected prompt — the user never typed anything</a:t>
            </a:r>
          </a:p>
          <a:p>
            <a:pPr/>
            <a:r>
              <a:t>Use cases: suggest power saving when battery drops, cleanup when storage is full, notify when an app crashes</a:t>
            </a:r>
          </a:p>
          <a:p>
            <a:pPr/>
            <a:r>
              <a:t>The same safety layers apply — autonomous actions are not privileged</a:t>
            </a:r>
          </a:p>
          <a:p>
            <a:pPr/>
            <a:r>
              <a:t>Rules are JSON, reloadable, rate-limited via cooldowns — you can dial autonomy up or down at runtime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Part 5: Running in the real world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abstraction — one binary, many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daemon targets Tizen but runs on generic Linux for development</a:t>
            </a:r>
          </a:p>
          <a:p>
            <a:pPr/>
            <a:r>
              <a:t>At boot, a platform plugin is loaded via dlopen — it provides logging (dlog), package manager, app control</a:t>
            </a:r>
          </a:p>
          <a:p>
            <a:pPr/>
            <a:r>
              <a:t>If no plugin is found, a built-in Generic Linux fallback takes over — stderr logs, apt/dnf stubs</a:t>
            </a:r>
          </a:p>
          <a:p>
            <a:pPr/>
            <a:r>
              <a:t>The agent code never imports Tizen types directly — it only speaks to trait interfaces</a:t>
            </a:r>
          </a:p>
          <a:p>
            <a:pPr/>
            <a:r>
              <a:t>This means laptop dev and on-device production use the same binary and the same logic</a:t>
            </a:r>
          </a:p>
          <a:p>
            <a:pPr/>
            <a:r>
              <a:t>Cross-compilation is handled by Tizen's GBS system; the Rust side stays platform-neutral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Concurrency philosophy — many small locks, no global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single request is not the bottleneck — concurrent channels (CLI, web, Telegram) all share one AgentCore</a:t>
            </a:r>
          </a:p>
          <a:p>
            <a:pPr/>
            <a:r>
              <a:t>Each field of AgentCore has its own lock: backends, session store, tool dispatcher, memory</a:t>
            </a:r>
          </a:p>
          <a:p>
            <a:pPr/>
            <a:r>
              <a:t>Short hold times: locks are acquired for a single operation, not for the full ReAct loop</a:t>
            </a:r>
          </a:p>
          <a:p>
            <a:pPr/>
            <a:r>
              <a:t>The LLM call itself is async — while one turn waits on a network response, another session can progress</a:t>
            </a:r>
          </a:p>
          <a:p>
            <a:pPr/>
            <a:r>
              <a:t>No global mutex means no accidental serialization of unrelated work</a:t>
            </a:r>
          </a:p>
          <a:p>
            <a:pPr/>
            <a:r>
              <a:t>Rust's type system enforces the discipline: you cannot even write code that holds two incompatible locks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extend TizenClaw — four entry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Skill (easiest) — drop a markdown file; no rebuild, hot-reloaded from disk</a:t>
            </a:r>
          </a:p>
          <a:p>
            <a:pPr/>
            <a:r>
              <a:t>Tool — ship a binary plus a tool.md manifest; the agent discovers it automatically</a:t>
            </a:r>
          </a:p>
          <a:p>
            <a:pPr/>
            <a:r>
              <a:t>Agent role — add a new specialist to the roles JSON; restart to activate</a:t>
            </a:r>
          </a:p>
          <a:p>
            <a:pPr/>
            <a:r>
              <a:t>LLM plugin (hardest) — build a .so exposing a small C ABI, drop into the plugin directory</a:t>
            </a:r>
          </a:p>
          <a:p>
            <a:pPr/>
            <a:r>
              <a:t>All four extension points respect the same safety layers — nothing is a special case</a:t>
            </a:r>
          </a:p>
          <a:p>
            <a:pPr/>
            <a:r>
              <a:t>You choose how tightly coupled your extension is — from a markdown hint to a full native provider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trade-offs worth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Files over SQL for transcripts — simpler compaction and crash safety at the cost of queryability</a:t>
            </a:r>
          </a:p>
          <a:p>
            <a:pPr/>
            <a:r>
              <a:t>Fine-grained locks over one big mutex — more concurrency at the cost of more careful lock design</a:t>
            </a:r>
          </a:p>
          <a:p>
            <a:pPr/>
            <a:r>
              <a:t>Policy-as-data over policy-as-code — configurable at runtime but harder to statically verify</a:t>
            </a:r>
          </a:p>
          <a:p>
            <a:pPr/>
            <a:r>
              <a:t>Subprocess tool execution over in-process calls — isolation and timeout at the cost of process spawn overhead</a:t>
            </a:r>
          </a:p>
          <a:p>
            <a:pPr/>
            <a:r>
              <a:t>Multi-backend LLM over single-provider — resilience and choice at the cost of abstraction complexity</a:t>
            </a:r>
          </a:p>
          <a:p>
            <a:pPr/>
            <a:r>
              <a:t>Markdown skills over hand-crafted prompts — extensible and shareable at the cost of some prompt bloat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Part 6: Putting it together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principles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 agent is a loop: reason, act, observe, repeat — not a single call</a:t>
            </a:r>
          </a:p>
          <a:p>
            <a:pPr/>
            <a:r>
              <a:t>Tools are the agent's hands — without them, it is only a chat</a:t>
            </a:r>
          </a:p>
          <a:p>
            <a:pPr/>
            <a:r>
              <a:t>Context is built every turn — history, skills, tools, memory, runtime state — nothing is static</a:t>
            </a:r>
          </a:p>
          <a:p>
            <a:pPr/>
            <a:r>
              <a:t>Safety lives in layers — no single check is trusted alone</a:t>
            </a:r>
          </a:p>
          <a:p>
            <a:pPr/>
            <a:r>
              <a:t>Extensibility is declarative — markdown, JSON, manifests — not deep API changes</a:t>
            </a:r>
          </a:p>
          <a:p>
            <a:pPr/>
            <a:r>
              <a:t>The architecture is a composition of simple pieces, each replaceable, behind clean interfaces</a:t>
            </a:r>
          </a:p>
          <a:p>
            <a:pPr/>
            <a:r>
              <a:t>Memory safety (Rust) plus process isolation (separate executor) gives a foundation an embedded daemon can live on for years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reading — dive deeper in the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01 — Overview: the project at a glance, module integration inventory</a:t>
            </a:r>
          </a:p>
          <a:p>
            <a:pPr/>
            <a:r>
              <a:t>04 — Agentic AI concepts: the ReAct loop in practice</a:t>
            </a:r>
          </a:p>
          <a:p>
            <a:pPr/>
            <a:r>
              <a:t>11 — Memory &amp; session deep dive: how context is assembled and persisted</a:t>
            </a:r>
          </a:p>
          <a:p>
            <a:pPr/>
            <a:r>
              <a:t>12 — Multi-agent orchestration: specialists, delegation, workflows</a:t>
            </a:r>
          </a:p>
          <a:p>
            <a:pPr/>
            <a:r>
              <a:t>13 — Safety &amp; policy: the three layers in detail</a:t>
            </a:r>
          </a:p>
          <a:p>
            <a:pPr/>
            <a:r>
              <a:t>14 — Event bus &amp; triggers: autonomous behavior</a:t>
            </a:r>
          </a:p>
          <a:p>
            <a:pPr/>
            <a:r>
              <a:t>15 — Extending TizenClaw: four step-by-step recipes</a:t>
            </a:r>
          </a:p>
          <a:p>
            <a:pPr/>
            <a:r>
              <a:t>Source of truth is always the code — docs are a map, not the territory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3668981"/>
            <a:ext cx="1082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646464"/>
                </a:solidFill>
              </a:defRPr>
            </a:pPr>
            <a:r>
              <a:t>Questions, critiques, contributions all welcome — open an issue or a PR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2A44"/>
                </a:solidFill>
              </a:rPr>
              <a:t>Safety in layers — a tool call's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3024000"/>
            <a:ext cx="1620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3096000"/>
            <a:ext cx="16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</a:rPr>
              <a:t>LLM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384000"/>
            <a:ext cx="162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C6B8A"/>
                </a:solidFill>
              </a:rPr>
              <a:t>returns a
tool_call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11999" y="2880000"/>
            <a:ext cx="1980000" cy="1224000"/>
          </a:xfrm>
          <a:prstGeom prst="roundRect">
            <a:avLst/>
          </a:prstGeom>
          <a:solidFill>
            <a:srgbClr val="FAE4E4"/>
          </a:solidFill>
          <a:ln w="22225">
            <a:solidFill>
              <a:srgbClr val="B0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411999" y="2934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B03A3A"/>
                </a:solidFill>
              </a:rP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1999" y="3150000"/>
            <a:ext cx="198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</a:rPr>
              <a:t>SafetyGuard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1999" y="3438000"/>
            <a:ext cx="198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C6B8A"/>
                </a:solidFill>
              </a:rPr>
              <a:t>Blocked tools?
Blocked arg patterns?
Irreversible flag set?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3998" y="2880000"/>
            <a:ext cx="1980000" cy="1224000"/>
          </a:xfrm>
          <a:prstGeom prst="roundRect">
            <a:avLst/>
          </a:prstGeom>
          <a:solidFill>
            <a:srgbClr val="FBF0DB"/>
          </a:solidFill>
          <a:ln w="22225">
            <a:solidFill>
              <a:srgbClr val="C9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43998" y="2934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C97B1F"/>
                </a:solidFill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998" y="3150000"/>
            <a:ext cx="198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</a:rPr>
              <a:t>ToolPolicy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998" y="3438000"/>
            <a:ext cx="198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C6B8A"/>
                </a:solidFill>
              </a:rPr>
              <a:t>Loop detection
(same call repeated)
Idle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5997" y="2880000"/>
            <a:ext cx="1980000" cy="1224000"/>
          </a:xfrm>
          <a:prstGeom prst="roundRect">
            <a:avLst/>
          </a:prstGeom>
          <a:solidFill>
            <a:srgbClr val="E7EEFB"/>
          </a:solidFill>
          <a:ln w="22225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5997" y="2934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E5BBA"/>
                </a:solidFill>
              </a:rPr>
              <a:t>Layer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5997" y="3150000"/>
            <a:ext cx="198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</a:rPr>
              <a:t>Parameter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5997" y="3438000"/>
            <a:ext cx="198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C6B8A"/>
                </a:solidFill>
              </a:rPr>
              <a:t>Min/max ranges
Rate limits
Role restrictions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996" y="3024000"/>
            <a:ext cx="1620000" cy="936000"/>
          </a:xfrm>
          <a:prstGeom prst="roundRect">
            <a:avLst/>
          </a:prstGeom>
          <a:solidFill>
            <a:srgbClr val="E3F1E5"/>
          </a:solidFill>
          <a:ln w="22225">
            <a:solidFill>
              <a:srgbClr val="3C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07996" y="3096000"/>
            <a:ext cx="16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3C7D4E"/>
                </a:solidFill>
              </a:rPr>
              <a:t>ToolDispatcher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996" y="3384000"/>
            <a:ext cx="162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C6B8A"/>
                </a:solidFill>
              </a:rPr>
              <a:t>executes in a
timed subprocess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60000" y="3492000.0"/>
            <a:ext cx="251999" cy="0.0"/>
          </a:xfrm>
          <a:prstGeom prst="line">
            <a:avLst/>
          </a:prstGeom>
          <a:ln w="25400">
            <a:solidFill>
              <a:srgbClr val="1F2A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91999" y="3492000.0"/>
            <a:ext cx="251999" cy="0.0"/>
          </a:xfrm>
          <a:prstGeom prst="line">
            <a:avLst/>
          </a:prstGeom>
          <a:ln w="25400">
            <a:solidFill>
              <a:srgbClr val="1F2A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23998" y="3492000.0"/>
            <a:ext cx="251999" cy="0.0"/>
          </a:xfrm>
          <a:prstGeom prst="line">
            <a:avLst/>
          </a:prstGeom>
          <a:ln w="25400">
            <a:solidFill>
              <a:srgbClr val="1F2A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55997" y="3492000.0"/>
            <a:ext cx="251999" cy="0.0"/>
          </a:xfrm>
          <a:prstGeom prst="line">
            <a:avLst/>
          </a:prstGeom>
          <a:ln w="25400">
            <a:solidFill>
              <a:srgbClr val="1F2A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411999" y="5040000"/>
            <a:ext cx="6443998" cy="432000"/>
          </a:xfrm>
          <a:prstGeom prst="roundRect">
            <a:avLst/>
          </a:prstGeom>
          <a:solidFill>
            <a:srgbClr val="FAE4E4"/>
          </a:solidFill>
          <a:ln w="12700">
            <a:solidFill>
              <a:srgbClr val="B0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411999" y="5040000"/>
            <a:ext cx="6443998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B03A3A"/>
                </a:solidFill>
              </a:rPr>
              <a:t>⛔  If any layer rejects: control never reaches the dispatcher; the LLM sees an error and can re-plan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5868000"/>
            <a:ext cx="1108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5C6B8A"/>
                </a:solidFill>
              </a:rPr>
              <a:t>Layers are independent — each can reject alone. No single check is load-bearing.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2A44"/>
                </a:solidFill>
              </a:rPr>
              <a:t>Context stack — rebuilt every turn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080000"/>
            <a:ext cx="4320000" cy="503999"/>
          </a:xfrm>
          <a:prstGeom prst="roundRect">
            <a:avLst/>
          </a:prstGeom>
          <a:solidFill>
            <a:srgbClr val="E7EEFB"/>
          </a:solidFill>
          <a:ln w="15875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8000" y="1116000"/>
            <a:ext cx="180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2E5BBA"/>
                </a:solidFill>
              </a:rPr>
              <a:t>Base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0" y="1116000"/>
            <a:ext cx="223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</a:rPr>
              <a:t>"You are TizenClaw."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655999"/>
            <a:ext cx="4320000" cy="503999"/>
          </a:xfrm>
          <a:prstGeom prst="roundRect">
            <a:avLst/>
          </a:prstGeom>
          <a:solidFill>
            <a:srgbClr val="E7EEFB"/>
          </a:solidFill>
          <a:ln w="15875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8000" y="1691999"/>
            <a:ext cx="180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2E5BBA"/>
                </a:solidFill>
              </a:rPr>
              <a:t>SOUL persona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1691999"/>
            <a:ext cx="223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</a:rPr>
              <a:t>tone, voice,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2231998"/>
            <a:ext cx="4320000" cy="503999"/>
          </a:xfrm>
          <a:prstGeom prst="roundRect">
            <a:avLst/>
          </a:prstGeom>
          <a:solidFill>
            <a:srgbClr val="FBF0DB"/>
          </a:solidFill>
          <a:ln w="15875">
            <a:solidFill>
              <a:srgbClr val="C9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8000" y="2267998"/>
            <a:ext cx="180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C97B1F"/>
                </a:solidFill>
              </a:rPr>
              <a:t>Tool declarations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2267998"/>
            <a:ext cx="223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</a:rPr>
              <a:t>structured list of callable capabilities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2807997"/>
            <a:ext cx="4320000" cy="503999"/>
          </a:xfrm>
          <a:prstGeom prst="roundRect">
            <a:avLst/>
          </a:prstGeom>
          <a:solidFill>
            <a:srgbClr val="FBF0DB"/>
          </a:solidFill>
          <a:ln w="15875">
            <a:solidFill>
              <a:srgbClr val="C9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8000" y="2843997"/>
            <a:ext cx="180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C97B1F"/>
                </a:solidFill>
              </a:rPr>
              <a:t>Textual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2843997"/>
            <a:ext cx="223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</a:rPr>
              <a:t>markdown guides — HOW to use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" y="3383996"/>
            <a:ext cx="4320000" cy="503999"/>
          </a:xfrm>
          <a:prstGeom prst="roundRect">
            <a:avLst/>
          </a:prstGeom>
          <a:solidFill>
            <a:srgbClr val="E3F1E5"/>
          </a:solidFill>
          <a:ln w="15875">
            <a:solidFill>
              <a:srgbClr val="3C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00" y="3419996"/>
            <a:ext cx="180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C7D4E"/>
                </a:solidFill>
              </a:rPr>
              <a:t>Long-term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3419996"/>
            <a:ext cx="223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</a:rPr>
              <a:t>relevant facts retrieved semantically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3959995"/>
            <a:ext cx="4320000" cy="503999"/>
          </a:xfrm>
          <a:prstGeom prst="roundRect">
            <a:avLst/>
          </a:prstGeom>
          <a:solidFill>
            <a:srgbClr val="E3F1E5"/>
          </a:solidFill>
          <a:ln w="15875">
            <a:solidFill>
              <a:srgbClr val="3C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8000" y="3995995"/>
            <a:ext cx="180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C7D4E"/>
                </a:solidFill>
              </a:rPr>
              <a:t>Runtime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0000" y="3995995"/>
            <a:ext cx="223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</a:rPr>
              <a:t>battery, network, model,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4535994"/>
            <a:ext cx="4320000" cy="503999"/>
          </a:xfrm>
          <a:prstGeom prst="roundRect">
            <a:avLst/>
          </a:prstGeom>
          <a:solidFill>
            <a:srgbClr val="EEEEF2"/>
          </a:solidFill>
          <a:ln w="15875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8000" y="4571994"/>
            <a:ext cx="180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</a:rPr>
              <a:t>Conversation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571994"/>
            <a:ext cx="223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</a:rPr>
              <a:t>recent turns (windowed / compacted)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1080000"/>
            <a:ext cx="540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16000" y="1188000"/>
            <a:ext cx="5112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</a:rPr>
              <a:t>Why rebuild every turn?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6000" y="1548000"/>
            <a:ext cx="5112000" cy="41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</a:rPr>
              <a:t>The LLM is stateless between calls. Everything it knows about the
user, the device, and its own capabilities has to arrive fresh.
Layers are composable — you can add a skill, change the persona, or
wire up memory without touching the agent loop.
Each layer answers one question for the model:
   • WHO am I?              (identity, persona)
   • WHAT can I do?         (tools, skills)
   • WHAT do I know?        (long-term memory)
   • WHERE am I?            (runtime context)
   • WHAT have we said?     (history)
This separation is why the architecture stays small: change the data,
not the code.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2A44"/>
                </a:solidFill>
              </a:rPr>
              <a:t>Three-tier topology — how the pieces sit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36000"/>
            <a:ext cx="1980000" cy="6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990000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</a:rPr>
              <a:t>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42000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000" y="936000"/>
            <a:ext cx="1980000" cy="6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700000" y="990000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</a:rPr>
              <a:t>Web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1242000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60000" y="936000"/>
            <a:ext cx="1980000" cy="6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60000" y="990000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</a:rPr>
              <a:t>Messaging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1242000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Telegram / Slack / Discord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20000" y="936000"/>
            <a:ext cx="1980000" cy="6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20000" y="990000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</a:rPr>
              <a:t>C / C++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0000" y="1242000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libtizenclaw-client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720000"/>
            <a:ext cx="8460000" cy="1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>
                <a:solidFill>
                  <a:srgbClr val="5C6B8A"/>
                </a:solidFill>
              </a:rPr>
              <a:t>CLIENTS — anyone who speaks JSON-RPC over the abstract Unix 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2340000"/>
            <a:ext cx="8460000" cy="1872000"/>
          </a:xfrm>
          <a:prstGeom prst="roundRect">
            <a:avLst/>
          </a:prstGeom>
          <a:solidFill>
            <a:srgbClr val="E7EEFB"/>
          </a:solidFill>
          <a:ln w="22225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8000" y="2394000"/>
            <a:ext cx="8244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2E5BBA"/>
                </a:solidFill>
              </a:rPr>
              <a:t>TIER 1 — Main daemon (tizenclaw)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4000" y="2700000"/>
            <a:ext cx="187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4000" y="2754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A44"/>
                </a:solidFill>
              </a:rPr>
              <a:t>AgentCore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2970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the ReAct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81999" y="2700000"/>
            <a:ext cx="187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681999" y="2754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A44"/>
                </a:solidFill>
              </a:rPr>
              <a:t>IPC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1999" y="2970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JSON-RPC 2.0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9998" y="2700000"/>
            <a:ext cx="187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79998" y="2754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A44"/>
                </a:solidFill>
              </a:rPr>
              <a:t>Memory + Sessions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9998" y="2970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files + SQLite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7997" y="2700000"/>
            <a:ext cx="187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77997" y="2754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A44"/>
                </a:solidFill>
              </a:rPr>
              <a:t>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7997" y="2970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web / messaging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4000" y="3330000"/>
            <a:ext cx="187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4000" y="3384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A44"/>
                </a:solidFill>
              </a:rPr>
              <a:t>Safety +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000" y="3600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layered gates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81999" y="3330000"/>
            <a:ext cx="187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681999" y="3384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A44"/>
                </a:solidFill>
              </a:rPr>
              <a:t>LLM Backends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81999" y="3600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pluggable providers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79998" y="3330000"/>
            <a:ext cx="187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679998" y="3384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A44"/>
                </a:solidFill>
              </a:rPr>
              <a:t>Agent Roles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98" y="3600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orchestrator + specialists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7997" y="3330000"/>
            <a:ext cx="187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677997" y="3384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A44"/>
                </a:solidFill>
              </a:rPr>
              <a:t>Event Bus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7997" y="3600000"/>
            <a:ext cx="1872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0">
                <a:solidFill>
                  <a:srgbClr val="5C6B8A"/>
                </a:solidFill>
              </a:rPr>
              <a:t>pub/sub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0000" y="4500000"/>
            <a:ext cx="5040000" cy="1080000"/>
          </a:xfrm>
          <a:prstGeom prst="roundRect">
            <a:avLst/>
          </a:prstGeom>
          <a:solidFill>
            <a:srgbClr val="FBF0DB"/>
          </a:solidFill>
          <a:ln w="22225">
            <a:solidFill>
              <a:srgbClr val="C9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8000" y="4554000"/>
            <a:ext cx="4824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C97B1F"/>
                </a:solidFill>
              </a:rPr>
              <a:t>TIER 2 — Tool executor (sandboxed)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000" y="4860000"/>
            <a:ext cx="48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</a:rPr>
              <a:t>Separate process. Runs risky tools under timeouts.
Validates caller via SO_PEERCRED.
Crashes here cannot corrupt the daemon's memory.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68000" y="4500000"/>
            <a:ext cx="5040000" cy="1080000"/>
          </a:xfrm>
          <a:prstGeom prst="roundRect">
            <a:avLst/>
          </a:prstGeom>
          <a:solidFill>
            <a:srgbClr val="E3F1E5"/>
          </a:solidFill>
          <a:ln w="22225">
            <a:solidFill>
              <a:srgbClr val="3C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976000" y="4554000"/>
            <a:ext cx="4824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3C7D4E"/>
                </a:solidFill>
              </a:rPr>
              <a:t>TIER 3 — C-ABI libraries (FFI bridge)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76000" y="4860000"/>
            <a:ext cx="48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</a:rPr>
              <a:t>libtizenclaw-client: C API for legacy apps.
libtizenclaw-sdk: headers for building .so plugins.
Legacy Tizen code talks to the agent without Rust.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530000.0" y="1584000"/>
            <a:ext cx="0.0" cy="756000"/>
          </a:xfrm>
          <a:prstGeom prst="line">
            <a:avLst/>
          </a:prstGeom>
          <a:ln w="12700">
            <a:solidFill>
              <a:srgbClr val="5C6B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690000.0" y="1584000"/>
            <a:ext cx="0.0" cy="756000"/>
          </a:xfrm>
          <a:prstGeom prst="line">
            <a:avLst/>
          </a:prstGeom>
          <a:ln w="12700">
            <a:solidFill>
              <a:srgbClr val="5C6B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850000.0" y="1584000"/>
            <a:ext cx="0.0" cy="756000"/>
          </a:xfrm>
          <a:prstGeom prst="line">
            <a:avLst/>
          </a:prstGeom>
          <a:ln w="12700">
            <a:solidFill>
              <a:srgbClr val="5C6B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010000.0" y="1584000"/>
            <a:ext cx="0.0" cy="756000"/>
          </a:xfrm>
          <a:prstGeom prst="line">
            <a:avLst/>
          </a:prstGeom>
          <a:ln w="12700">
            <a:solidFill>
              <a:srgbClr val="5C6B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80000" y="4212000"/>
            <a:ext cx="0" cy="288000"/>
          </a:xfrm>
          <a:prstGeom prst="line">
            <a:avLst/>
          </a:prstGeom>
          <a:ln w="19050">
            <a:solidFill>
              <a:srgbClr val="C97B1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60000" y="4212000"/>
            <a:ext cx="1908000" cy="288000"/>
          </a:xfrm>
          <a:prstGeom prst="line">
            <a:avLst/>
          </a:prstGeom>
          <a:ln w="19050">
            <a:solidFill>
              <a:srgbClr val="3C7D4E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0000" y="5760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5C6B8A"/>
                </a:solidFill>
              </a:rPr>
              <a:t>Process separation + clean IPC boundaries. A failing tool cannot corrupt the agent; a failing plugin cannot crash the daemon.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2A44"/>
                </a:solidFill>
              </a:rPr>
              <a:t>The ReAct loop — visualized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06059" y="2879999"/>
            <a:ext cx="1980000" cy="864000"/>
          </a:xfrm>
          <a:prstGeom prst="roundRect">
            <a:avLst/>
          </a:prstGeom>
          <a:solidFill>
            <a:srgbClr val="E7EEFB"/>
          </a:solidFill>
          <a:ln w="2540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106059" y="2933999"/>
            <a:ext cx="19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2E5BBA"/>
                </a:solidFill>
              </a:rPr>
              <a:t>AgentCore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6059" y="3221999"/>
            <a:ext cx="19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5C6B8A"/>
                </a:solidFill>
              </a:rPr>
              <a:t>holds context,
loops until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6059" y="1007999"/>
            <a:ext cx="2160000" cy="864000"/>
          </a:xfrm>
          <a:prstGeom prst="roundRect">
            <a:avLst/>
          </a:prstGeom>
          <a:solidFill>
            <a:srgbClr val="E7EEFB"/>
          </a:solidFill>
          <a:ln w="19050">
            <a:solidFill>
              <a:srgbClr val="2E5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16059" y="1061999"/>
            <a:ext cx="216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2E5BBA"/>
                </a:solidFill>
              </a:rPr>
              <a:t>1 —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6059" y="1313999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1F2A44"/>
                </a:solidFill>
              </a:rPr>
              <a:t>LLM sees prompt + tools,
returns text or tool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88059" y="2879999"/>
            <a:ext cx="2160000" cy="864000"/>
          </a:xfrm>
          <a:prstGeom prst="roundRect">
            <a:avLst/>
          </a:prstGeom>
          <a:solidFill>
            <a:srgbClr val="FBF0DB"/>
          </a:solidFill>
          <a:ln w="19050">
            <a:solidFill>
              <a:srgbClr val="C9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88059" y="2933999"/>
            <a:ext cx="216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C97B1F"/>
                </a:solidFill>
              </a:rPr>
              <a:t>2 —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8059" y="3185999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1F2A44"/>
                </a:solidFill>
              </a:rPr>
              <a:t>If tool call, dispatcher
runs it (safely)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6059" y="4751999"/>
            <a:ext cx="2160000" cy="864000"/>
          </a:xfrm>
          <a:prstGeom prst="roundRect">
            <a:avLst/>
          </a:prstGeom>
          <a:solidFill>
            <a:srgbClr val="E3F1E5"/>
          </a:solidFill>
          <a:ln w="19050">
            <a:solidFill>
              <a:srgbClr val="3C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16059" y="4805999"/>
            <a:ext cx="216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3C7D4E"/>
                </a:solidFill>
              </a:rPr>
              <a:t>3 — 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6059" y="5057999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1F2A44"/>
                </a:solidFill>
              </a:rPr>
              <a:t>Tool output feeds
back as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4059" y="2879999"/>
            <a:ext cx="2160000" cy="864000"/>
          </a:xfrm>
          <a:prstGeom prst="roundRect">
            <a:avLst/>
          </a:prstGeom>
          <a:solidFill>
            <a:srgbClr val="FAE4E4"/>
          </a:solidFill>
          <a:ln w="19050">
            <a:solidFill>
              <a:srgbClr val="B0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144059" y="2933999"/>
            <a:ext cx="216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B03A3A"/>
                </a:solidFill>
              </a:rPr>
              <a:t>4 — Loop or Exit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4059" y="3185999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1F2A44"/>
                </a:solidFill>
              </a:rPr>
              <a:t>Keep going, or return
final text to the user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888059.5" y="1439999.0"/>
            <a:ext cx="288000.0" cy="1872000.0"/>
          </a:xfrm>
          <a:prstGeom prst="line">
            <a:avLst/>
          </a:prstGeom>
          <a:ln w="22225">
            <a:solidFill>
              <a:srgbClr val="5C6B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96059.5" y="3743999.0"/>
            <a:ext cx="1872000.0" cy="1008000.0"/>
          </a:xfrm>
          <a:prstGeom prst="line">
            <a:avLst/>
          </a:prstGeom>
          <a:ln w="22225">
            <a:solidFill>
              <a:srgbClr val="5C6B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16059.5" y="3311999.0"/>
            <a:ext cx="288000.0" cy="1872000.0"/>
          </a:xfrm>
          <a:prstGeom prst="line">
            <a:avLst/>
          </a:prstGeom>
          <a:ln w="22225">
            <a:solidFill>
              <a:srgbClr val="5C6B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24059.5" y="1871999.0"/>
            <a:ext cx="1872000.0" cy="1008000.0"/>
          </a:xfrm>
          <a:prstGeom prst="line">
            <a:avLst/>
          </a:prstGeom>
          <a:ln w="22225">
            <a:solidFill>
              <a:srgbClr val="5C6B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0000" y="5940000"/>
            <a:ext cx="107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5C6B8A"/>
                </a:solidFill>
              </a:rPr>
              <a:t>Natural termination: the LLM returns a final text answer OR a policy cap is hit.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92b655a-ec86-4731-b25e-ce4ddeb8f50a" xsi:nil="true"/>
    <_ip_UnifiedCompliancePolicyProperties xmlns="http://schemas.microsoft.com/sharepoint/v3" xsi:nil="true"/>
    <_ip_UnifiedCompliancePolicyUIAction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14B0F575CA0844802D129D294118DE" ma:contentTypeVersion="15" ma:contentTypeDescription="Create a new document." ma:contentTypeScope="" ma:versionID="ddeb9392fca9bbc19e06b6db1f4d7da5">
  <xsd:schema xmlns:xsd="http://www.w3.org/2001/XMLSchema" xmlns:xs="http://www.w3.org/2001/XMLSchema" xmlns:p="http://schemas.microsoft.com/office/2006/metadata/properties" xmlns:ns1="http://schemas.microsoft.com/sharepoint/v3" xmlns:ns2="492b655a-ec86-4731-b25e-ce4ddeb8f50a" xmlns:ns3="3a08ec24-c134-4431-b5bd-1238984bf104" targetNamespace="http://schemas.microsoft.com/office/2006/metadata/properties" ma:root="true" ma:fieldsID="b4aac29b193bd248a2c97bf3d1b392e3" ns1:_="" ns2:_="" ns3:_="">
    <xsd:import namespace="http://schemas.microsoft.com/sharepoint/v3"/>
    <xsd:import namespace="492b655a-ec86-4731-b25e-ce4ddeb8f50a"/>
    <xsd:import namespace="3a08ec24-c134-4431-b5bd-1238984bf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b655a-ec86-4731-b25e-ce4ddeb8f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8ec24-c134-4431-b5bd-1238984bf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2C5518-CD65-41F9-81F5-3B54EA95E1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7464A2-010A-429F-B102-182C12F712B5}">
  <ds:schemaRefs>
    <ds:schemaRef ds:uri="3a08ec24-c134-4431-b5bd-1238984bf104"/>
    <ds:schemaRef ds:uri="492b655a-ec86-4731-b25e-ce4ddeb8f5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26463-9703-463C-8B84-43B770C9AC27}">
  <ds:schemaRefs>
    <ds:schemaRef ds:uri="3a08ec24-c134-4431-b5bd-1238984bf104"/>
    <ds:schemaRef ds:uri="492b655a-ec86-4731-b25e-ce4ddeb8f5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5" baseType="lpstr">
      <vt:lpstr>BIZ UDPゴシック</vt:lpstr>
      <vt:lpstr>游ゴシック</vt:lpstr>
      <vt:lpstr>Arial</vt:lpstr>
      <vt:lpstr>Segoe UI</vt:lpstr>
      <vt:lpstr>Office テーマ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オンプレミス環境におけるAzure Backupのご紹介</dc:title>
  <dc:subject/>
  <dc:creator>Tatsumi Yamamoto</dc:creator>
  <cp:keywords/>
  <dc:description/>
  <cp:lastModifiedBy>yama pan</cp:lastModifiedBy>
  <cp:revision>5</cp:revision>
  <dcterms:created xsi:type="dcterms:W3CDTF">2023-10-17T02:59:42Z</dcterms:created>
  <dcterms:modified xsi:type="dcterms:W3CDTF">2026-02-02T17:54:37Z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0x0101001A14B0F575CA0844802D129D294118DE</vt:lpwstr>
  </property>
</Properties>
</file>