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872119" y="6714000"/>
            <a:ext cx="4320000" cy="14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76000" y="503999"/>
            <a:ext cx="288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2189FF"/>
                </a:solidFill>
                <a:latin typeface="Calibri"/>
              </a:rPr>
              <a:t>TIZENCLAW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234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First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378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C6D2F2"/>
                </a:solidFill>
                <a:latin typeface="Calibri"/>
              </a:rPr>
              <a:t>Agentic AI on Tizen — the design, the working, the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390000"/>
            <a:ext cx="1104011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9AABD2"/>
                </a:solidFill>
                <a:latin typeface="Calibri"/>
              </a:rPr>
              <a:t>A grounded tour of how a production agentic daemon is actually built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What we will build,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4644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1 · Why TizenClaw exists — the shift from menus to intent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2 · What makes something an agent (and not a chatbot)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3 · TizenClaw's architecture — the three tiers and the 19 fields inside AgentCore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4 · How context is assembled every turn — the 7-layer stack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5 · Memory and sessions — why files, why semantic retrieval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6 · Tools, skills, and the LLM backend abstraction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7 · Safety in depth — SafetyGuard, ToolPolicy, bounds, circuit breaker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8 · Multi-agent orchestration and autonomous behavior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Part 9 · Real-world concerns — platform, extension, 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Goal: by the end, you can hold the whole system in your 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Why TizenClaw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Intent beats navigation — the case for agentic UX on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The shift — from menus to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1 · WHY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  <a:latin typeface="Calibri"/>
              </a:rPr>
              <a:t>■  </a:t>
            </a:r>
            <a:r>
              <a:rPr sz="1400">
                <a:solidFill>
                  <a:srgbClr val="1C2540"/>
                </a:solidFill>
                <a:latin typeface="Calibri"/>
              </a:rPr>
              <a:t>Traditional UIs force the user to learn the system — find the menu, open settings, tap three times.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  <a:latin typeface="Calibri"/>
              </a:rPr>
              <a:t>■  </a:t>
            </a:r>
            <a:r>
              <a:rPr sz="1400">
                <a:solidFill>
                  <a:srgbClr val="1C2540"/>
                </a:solidFill>
                <a:latin typeface="Calibri"/>
              </a:rPr>
              <a:t>Intent-driven UIs flip this: the user states a goal in their own words, the system figures out the steps.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  <a:latin typeface="Calibri"/>
              </a:rPr>
              <a:t>■  </a:t>
            </a:r>
            <a:r>
              <a:rPr sz="1400">
                <a:solidFill>
                  <a:srgbClr val="1C2540"/>
                </a:solidFill>
                <a:latin typeface="Calibri"/>
              </a:rPr>
              <a:t>"Turn on Bluetooth and connect my headphones" becomes the interface — not a six-tap journey.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  <a:latin typeface="Calibri"/>
              </a:rPr>
              <a:t>■  </a:t>
            </a:r>
            <a:r>
              <a:rPr sz="1400">
                <a:solidFill>
                  <a:srgbClr val="1C2540"/>
                </a:solidFill>
                <a:latin typeface="Calibri"/>
              </a:rPr>
              <a:t>TizenClaw is the daemon that makes this shift possible on Tizen devices (TVs, appliances, wearables).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  <a:latin typeface="Calibri"/>
              </a:rPr>
              <a:t>■  </a:t>
            </a:r>
            <a:r>
              <a:rPr sz="1400">
                <a:solidFill>
                  <a:srgbClr val="1C2540"/>
                </a:solidFill>
                <a:latin typeface="Calibri"/>
              </a:rPr>
              <a:t>The device stops being a collection of screens and starts being an entity you can talk 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Six principles that shaped every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1 · DESIGN BELIEFS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4644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Intent beats navigation — let users describe goals, not click through trees.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Separation of concerns — the LLM reasons; tools act; skills teach judgment; the daemon glues.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Pluggable everything — LLM providers, platforms, channels, tools, skills, roles. Swap without rebuilding.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Fail gracefully — fallback LLMs, circuit breakers, platform fallback to generic Linux.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Memory safety by default — Rust, fine-grained locks, no raw pointers in the agent loop.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Safety in layers — every risky action passes through multiple independent gates.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These principles are not slogans — each one shows up in a concrete design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What is an agent?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The gap between a chatbot API call and an autonomous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Chatbot vs agent — a critical distinction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2 · ANATOMY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260000"/>
            <a:ext cx="5376059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Chatbot (single-shot API)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76059" cy="4752000"/>
          </a:xfrm>
          <a:prstGeom prst="roundRect">
            <a:avLst>
              <a:gd name="adj" fmla="val 2000"/>
            </a:avLst>
          </a:prstGeom>
          <a:solidFill>
            <a:srgbClr val="F4F7FD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08000"/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Stateless — each request is independent.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Returns text only.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Cannot touch the outside world.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Handles one turn and exits.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The user is the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059" y="1260000"/>
            <a:ext cx="5376059" cy="32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Agent (iterative loop)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59" y="1584000"/>
            <a:ext cx="5376059" cy="4752000"/>
          </a:xfrm>
          <a:prstGeom prst="roundRect">
            <a:avLst>
              <a:gd name="adj" fmla="val 2000"/>
            </a:avLst>
          </a:prstGeom>
          <a:solidFill>
            <a:srgbClr val="F4F7FD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08000"/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Stateful — carries conversation + long-term memory forward.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Returns text OR structured tool invocations.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Acts on the world through a registered tool catalog.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Plans and executes multi-step work autonomously.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The loop is the agent.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The ReAct pattern — reason, act, observe,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2 · THE LOOP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The agent sends the user's prompt plus the tool catalog to the LLM.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REASON — the LLM returns either a final text OR a structured tool_call { name, args, id }.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ACT — if a tool was requested, ToolDispatcher spawns a subprocess with a timeout.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OBSERVE — the tool's output is captured as JSON { exit_code, stdout, stderr, success } and fed back as context.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REPEAT — the LLM sees everything from the previous turns and either calls another tool or finishes.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Termination: natural (LLM returns final text) OR policy-capped (AgentLoopState.DEFAULT_MAX_TOOL_ROUNDS = 0 means no default cap; per-session overrides set real limits).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The ReAct loop — reason, act, observe, repeat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THE AGENT'S HEARTBEAT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6059" y="3348000"/>
            <a:ext cx="1980000" cy="864000"/>
          </a:xfrm>
          <a:prstGeom prst="roundRect">
            <a:avLst>
              <a:gd name="adj" fmla="val 4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AgentCore</a:t>
            </a:r>
          </a:p>
          <a:p>
            <a:pPr algn="ctr"/>
            <a:r>
              <a:rPr sz="1100">
                <a:solidFill>
                  <a:srgbClr val="B0C0EA"/>
                </a:solidFill>
              </a:rPr>
              <a:t>holds context, runs the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26059" y="1548000"/>
            <a:ext cx="2340000" cy="79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200" b="1">
                <a:solidFill>
                  <a:srgbClr val="1428A0"/>
                </a:solidFill>
              </a:rPr>
              <a:t>1 REASON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LLM sees the prompt + tools.
Returns text OR a tool_call.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34059" y="3384000"/>
            <a:ext cx="2340000" cy="79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200" b="1">
                <a:solidFill>
                  <a:srgbClr val="2189FF"/>
                </a:solidFill>
              </a:rPr>
              <a:t>2 ACT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ToolDispatcher executes it
(with safety + policy checks).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26059" y="5220000"/>
            <a:ext cx="2340000" cy="79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200" b="1">
                <a:solidFill>
                  <a:srgbClr val="1428A0"/>
                </a:solidFill>
              </a:rPr>
              <a:t>3 OBSERVE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Output becomes new context
for the next LLM 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8059" y="3384000"/>
            <a:ext cx="2340000" cy="79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/>
          <a:lstStyle/>
          <a:p>
            <a:pPr algn="l"/>
            <a:r>
              <a:rPr sz="1200" b="1">
                <a:solidFill>
                  <a:srgbClr val="2189FF"/>
                </a:solidFill>
              </a:rPr>
              <a:t>4 DECIDE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LLM either calls another tool
or returns the final answer.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6834059.5" y="2340000.0"/>
            <a:ext cx="432000.0" cy="1044000.0"/>
          </a:xfrm>
          <a:prstGeom prst="line">
            <a:avLst/>
          </a:prstGeom>
          <a:ln w="2540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34059.5" y="4176000.0"/>
            <a:ext cx="432000.0" cy="1044000.0"/>
          </a:xfrm>
          <a:prstGeom prst="line">
            <a:avLst/>
          </a:prstGeom>
          <a:ln w="2540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926059.5" y="4176000.0"/>
            <a:ext cx="432000.0" cy="1044000.0"/>
          </a:xfrm>
          <a:prstGeom prst="line">
            <a:avLst/>
          </a:prstGeom>
          <a:ln w="2540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926059.5" y="2340000.0"/>
            <a:ext cx="432000.0" cy="1044000.0"/>
          </a:xfrm>
          <a:prstGeom prst="line">
            <a:avLst/>
          </a:prstGeom>
          <a:ln w="2540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76000" y="5832000"/>
            <a:ext cx="11040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B7A99"/>
                </a:solidFill>
                <a:latin typeface="Calibri"/>
              </a:rPr>
              <a:t>Natural termination: the LLM decides, OR a policy cap trips. Each turn is a fresh LLM call with rebuilt context.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An agent is a composition, not a single 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2 · PIECES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4644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LLM — the reasoning engine (Gemini, Claude, GPT, Ollama, or a .so plugin).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Tools — the executable hands (binaries and scripts with JSON-schema inputs).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Memory — short-term (session transcripts) and long-term (facts retrieved by similarity).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Safety — independent policy gates that decide what is allowed.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Loop — the state machine that drives reason-act-observe-repeat (implemented by AgentLoopState).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Context builder — the assembler that rebuilds the system prompt every turn (SystemPromptBuilder).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TizenClaw's AgentCore struct holds 19 fields — every field below maps to one of these six 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TizenClaw's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Three tiers, clean interfaces, 19 fields in AgentCore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Three-tier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PROCESS SEPARATION, CLEAN INTERFACES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008000"/>
            <a:ext cx="36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6B7A99"/>
                </a:solidFill>
                <a:latin typeface="Calibri"/>
              </a:rPr>
              <a:t>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0059" y="1224000"/>
            <a:ext cx="2448000" cy="54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1C2540"/>
                </a:solidFill>
                <a:latin typeface="Calibri"/>
              </a:rPr>
              <a:t>tizenclaw-cli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8059" y="1224000"/>
            <a:ext cx="2448000" cy="54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1C2540"/>
                </a:solidFill>
                <a:latin typeface="Calibri"/>
              </a:rPr>
              <a:t>Web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059" y="1224000"/>
            <a:ext cx="2448000" cy="54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1C2540"/>
                </a:solidFill>
                <a:latin typeface="Calibri"/>
              </a:rPr>
              <a:t>Telegram / Slack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059" y="1224000"/>
            <a:ext cx="2448000" cy="540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200" b="1">
                <a:solidFill>
                  <a:srgbClr val="1C2540"/>
                </a:solidFill>
                <a:latin typeface="Calibri"/>
              </a:rPr>
              <a:t>C / C++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1800000"/>
            <a:ext cx="1104011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2189FF"/>
                </a:solidFill>
                <a:latin typeface="Calibri"/>
              </a:rPr>
              <a:t>JSON-RPC 2.0 over abstract Unix socket  \0tizenclaw.sock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" y="2304000"/>
            <a:ext cx="10320119" cy="1872000"/>
          </a:xfrm>
          <a:prstGeom prst="roundRect">
            <a:avLst>
              <a:gd name="adj" fmla="val 3000"/>
            </a:avLst>
          </a:prstGeom>
          <a:solidFill>
            <a:srgbClr val="F4F7FD"/>
          </a:solidFill>
          <a:ln w="22225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044000" y="2412000"/>
            <a:ext cx="2678400" cy="23400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1 · tizenclaw (main daemon)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0000" y="2807999"/>
            <a:ext cx="2340000" cy="50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r>
              <a:rPr sz="1100" b="1">
                <a:solidFill>
                  <a:srgbClr val="1428A0"/>
                </a:solidFill>
              </a:rPr>
              <a:t>AgentCore</a:t>
            </a:r>
          </a:p>
          <a:p>
            <a:r>
              <a:rPr sz="900">
                <a:solidFill>
                  <a:srgbClr val="6B7A99"/>
                </a:solidFill>
              </a:rPr>
              <a:t>the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45999" y="2807999"/>
            <a:ext cx="2340000" cy="50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r>
              <a:rPr sz="1100" b="1">
                <a:solidFill>
                  <a:srgbClr val="1428A0"/>
                </a:solidFill>
              </a:rPr>
              <a:t>IpcServer</a:t>
            </a:r>
          </a:p>
          <a:p>
            <a:r>
              <a:rPr sz="900">
                <a:solidFill>
                  <a:srgbClr val="6B7A99"/>
                </a:solidFill>
              </a:rPr>
              <a:t>accept, dispatch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1998" y="2807999"/>
            <a:ext cx="2340000" cy="50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r>
              <a:rPr sz="1100" b="1">
                <a:solidFill>
                  <a:srgbClr val="1428A0"/>
                </a:solidFill>
              </a:rPr>
              <a:t>SessionStore</a:t>
            </a:r>
          </a:p>
          <a:p>
            <a:r>
              <a:rPr sz="900">
                <a:solidFill>
                  <a:srgbClr val="6B7A99"/>
                </a:solidFill>
              </a:rPr>
              <a:t>transcripts on disk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77997" y="2807999"/>
            <a:ext cx="2340000" cy="50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r>
              <a:rPr sz="1100" b="1">
                <a:solidFill>
                  <a:srgbClr val="1428A0"/>
                </a:solidFill>
              </a:rPr>
              <a:t>MemoryStore</a:t>
            </a:r>
          </a:p>
          <a:p>
            <a:r>
              <a:rPr sz="900">
                <a:solidFill>
                  <a:srgbClr val="6B7A99"/>
                </a:solidFill>
              </a:rPr>
              <a:t>long-term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" y="3401998"/>
            <a:ext cx="2340000" cy="50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r>
              <a:rPr sz="1100" b="1">
                <a:solidFill>
                  <a:srgbClr val="1428A0"/>
                </a:solidFill>
              </a:rPr>
              <a:t>ToolDispatcher</a:t>
            </a:r>
          </a:p>
          <a:p>
            <a:r>
              <a:rPr sz="900">
                <a:solidFill>
                  <a:srgbClr val="6B7A99"/>
                </a:solidFill>
              </a:rPr>
              <a:t>subprocess runner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5999" y="3401998"/>
            <a:ext cx="2340000" cy="50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r>
              <a:rPr sz="1100" b="1">
                <a:solidFill>
                  <a:srgbClr val="1428A0"/>
                </a:solidFill>
              </a:rPr>
              <a:t>SafetyGuard + ToolPolicy</a:t>
            </a:r>
          </a:p>
          <a:p>
            <a:r>
              <a:rPr sz="900">
                <a:solidFill>
                  <a:srgbClr val="6B7A99"/>
                </a:solidFill>
              </a:rPr>
              <a:t>policy 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1998" y="3401998"/>
            <a:ext cx="2340000" cy="50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r>
              <a:rPr sz="1100" b="1">
                <a:solidFill>
                  <a:srgbClr val="1428A0"/>
                </a:solidFill>
              </a:rPr>
              <a:t>LLM providers</a:t>
            </a:r>
          </a:p>
          <a:p>
            <a:r>
              <a:rPr sz="900">
                <a:solidFill>
                  <a:srgbClr val="6B7A99"/>
                </a:solidFill>
              </a:rPr>
              <a:t>Gemini, Claude…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77997" y="3401998"/>
            <a:ext cx="2340000" cy="503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36000"/>
          <a:lstStyle/>
          <a:p>
            <a:r>
              <a:rPr sz="1100" b="1">
                <a:solidFill>
                  <a:srgbClr val="1428A0"/>
                </a:solidFill>
              </a:rPr>
              <a:t>EventBus</a:t>
            </a:r>
          </a:p>
          <a:p>
            <a:r>
              <a:rPr sz="900">
                <a:solidFill>
                  <a:srgbClr val="6B7A99"/>
                </a:solidFill>
              </a:rPr>
              <a:t>pub / sub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54059.5" y="1764000"/>
            <a:ext cx="1.0" cy="540000"/>
          </a:xfrm>
          <a:prstGeom prst="line">
            <a:avLst/>
          </a:prstGeom>
          <a:ln w="12700">
            <a:solidFill>
              <a:srgbClr val="6B7A9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82059.5" y="1764000"/>
            <a:ext cx="1.0" cy="540000"/>
          </a:xfrm>
          <a:prstGeom prst="line">
            <a:avLst/>
          </a:prstGeom>
          <a:ln w="12700">
            <a:solidFill>
              <a:srgbClr val="6B7A9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10059.5" y="1764000"/>
            <a:ext cx="1.0" cy="540000"/>
          </a:xfrm>
          <a:prstGeom prst="line">
            <a:avLst/>
          </a:prstGeom>
          <a:ln w="12700">
            <a:solidFill>
              <a:srgbClr val="6B7A9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38059.5" y="1764000"/>
            <a:ext cx="1.0" cy="540000"/>
          </a:xfrm>
          <a:prstGeom prst="line">
            <a:avLst/>
          </a:prstGeom>
          <a:ln w="12700">
            <a:solidFill>
              <a:srgbClr val="6B7A9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6000" y="4428000"/>
            <a:ext cx="5016059" cy="1152000"/>
          </a:xfrm>
          <a:prstGeom prst="roundRect">
            <a:avLst>
              <a:gd name="adj" fmla="val 3000"/>
            </a:avLst>
          </a:prstGeom>
          <a:solidFill>
            <a:srgbClr val="F4F7FD"/>
          </a:solidFill>
          <a:ln w="2222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044000" y="4536000"/>
            <a:ext cx="2678400" cy="234000"/>
          </a:xfrm>
          <a:prstGeom prst="roundRect">
            <a:avLst>
              <a:gd name="adj" fmla="val 50000"/>
            </a:avLst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2 · tizenclaw-tool-executor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6000" y="4896000"/>
            <a:ext cx="4656059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2540"/>
                </a:solidFill>
                <a:latin typeface="Calibri"/>
              </a:rPr>
              <a:t>Separate process. Runs risky tools under time limits.
Validates the caller via SO_PEERCRED.
A crashing tool cannot corrupt daemon memory.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0059" y="4428000"/>
            <a:ext cx="5016059" cy="1152000"/>
          </a:xfrm>
          <a:prstGeom prst="roundRect">
            <a:avLst>
              <a:gd name="adj" fmla="val 3000"/>
            </a:avLst>
          </a:prstGeom>
          <a:solidFill>
            <a:srgbClr val="F4F7FD"/>
          </a:solidFill>
          <a:ln w="2222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348059" y="4536000"/>
            <a:ext cx="1807200" cy="234000"/>
          </a:xfrm>
          <a:prstGeom prst="roundRect">
            <a:avLst>
              <a:gd name="adj" fmla="val 50000"/>
            </a:avLst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TIER 3 · C-ABI bridge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0059" y="4896000"/>
            <a:ext cx="4656059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2540"/>
                </a:solidFill>
                <a:latin typeface="Calibri"/>
              </a:rPr>
              <a:t>libtizenclaw-client — C API for legacy apps.
libtizenclaw-sdk — headers for building .so plugins.
Legacy Tizen code talks to the agent without Rust.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444029.75" y="4176000"/>
            <a:ext cx="1.0" cy="252000"/>
          </a:xfrm>
          <a:prstGeom prst="line">
            <a:avLst/>
          </a:prstGeom>
          <a:ln w="1905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748089.25" y="4176000"/>
            <a:ext cx="1.0" cy="252000"/>
          </a:xfrm>
          <a:prstGeom prst="line">
            <a:avLst/>
          </a:prstGeom>
          <a:ln w="19050">
            <a:solidFill>
              <a:srgbClr val="2189FF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6000" y="5760000"/>
            <a:ext cx="11040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B7A99"/>
                </a:solidFill>
                <a:latin typeface="Calibri"/>
              </a:rPr>
              <a:t>A failing tool cannot corrupt the agent. A failing plugin cannot crash the daemon.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AgentCore — 19 fields grouped into 5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3 · THE BRAIN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260000"/>
            <a:ext cx="2428826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4826" y="1260000"/>
            <a:ext cx="198722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2047" y="1260000"/>
            <a:ext cx="662407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Fields (illustrative)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000" y="1584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LLM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0826" y="1584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8047" y="1584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provider_registry · llm_config · circuit_breakers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1926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000" y="1926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Prompt &amp;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826" y="1926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8047" y="1926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system_prompt · soul_content · prompt_hash · agent_roles · session_profiles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" y="2268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000" y="2268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Memory &amp;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0826" y="2268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8047" y="2268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session_store (files + SQL) · memory_store · context_engine (compaction)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2610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000" y="2610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Tools &amp;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0826" y="2610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8047" y="2610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tool_dispatcher · tool_policy · action_bridge · workflow_engine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" y="2952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2000" y="2952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Security &amp; infra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0826" y="2952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8047" y="2952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safety_guard · key_store · event_bus ·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The new April-2026 refactor: AgentCore is an 111-line facade that includes 15 subfiles — one per responsibility.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Life of a single prompt — what actually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3 · A WALKTHROUGH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4644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1  Client opens \0tizenclaw.sock and sends a length-prefixed JSON-RPC request.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2  IpcServer validates the 10 MB payload limit and calls AgentCore.process_prompt.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3  User message is appended to today's session transcript (Markdown + JSONL).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4  load_session_context loads the last 120 messages (possibly from a compacted snapshot).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5  MemoryStore.load_relevant_for_prompt returns the top-5 relevant memories (threshold 0.1).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6  SystemPromptBuilder stitches identity, persona, tools, skills, memory, context, history.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7  The 15-phase ReAct loop runs — LLM calls, safety checks, tool dispatches, observations.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8  Token usage logged; final text appended to transcript and returned over IPC.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Fine-grained locks let concurrent prompts share one AgentCore without serializing each other.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Life of a prompt — sequence of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FROM USER INPUT TO FINAL RESPONSE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1152000"/>
            <a:ext cx="1433159" cy="396000"/>
          </a:xfrm>
          <a:prstGeom prst="roundRect">
            <a:avLst>
              <a:gd name="adj" fmla="val 15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User / CLI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64579.9285714286" y="1548000"/>
            <a:ext cx="1.0" cy="4572000"/>
          </a:xfrm>
          <a:prstGeom prst="line">
            <a:avLst/>
          </a:prstGeom>
          <a:ln w="12700">
            <a:solidFill>
              <a:srgbClr val="D8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25159" y="1152000"/>
            <a:ext cx="1433159" cy="396000"/>
          </a:xfrm>
          <a:prstGeom prst="roundRect">
            <a:avLst>
              <a:gd name="adj" fmla="val 15000"/>
            </a:avLst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IpcServer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41739.785714286" y="1548000"/>
            <a:ext cx="1.0" cy="4572000"/>
          </a:xfrm>
          <a:prstGeom prst="line">
            <a:avLst/>
          </a:prstGeom>
          <a:ln w="12700">
            <a:solidFill>
              <a:srgbClr val="D8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02319" y="1152000"/>
            <a:ext cx="1433159" cy="396000"/>
          </a:xfrm>
          <a:prstGeom prst="roundRect">
            <a:avLst>
              <a:gd name="adj" fmla="val 15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18899.642857143" y="1548000"/>
            <a:ext cx="1.0" cy="4572000"/>
          </a:xfrm>
          <a:prstGeom prst="line">
            <a:avLst/>
          </a:prstGeom>
          <a:ln w="12700">
            <a:solidFill>
              <a:srgbClr val="D8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79479" y="1152000"/>
            <a:ext cx="1433159" cy="396000"/>
          </a:xfrm>
          <a:prstGeom prst="roundRect">
            <a:avLst>
              <a:gd name="adj" fmla="val 15000"/>
            </a:avLst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SessionStore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59.499999999" y="1548000"/>
            <a:ext cx="1.0" cy="4572000"/>
          </a:xfrm>
          <a:prstGeom prst="line">
            <a:avLst/>
          </a:prstGeom>
          <a:ln w="12700">
            <a:solidFill>
              <a:srgbClr val="D8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56639" y="1152000"/>
            <a:ext cx="1433159" cy="396000"/>
          </a:xfrm>
          <a:prstGeom prst="roundRect">
            <a:avLst>
              <a:gd name="adj" fmla="val 15000"/>
            </a:avLst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MemoryStore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73219.357142856" y="1548000"/>
            <a:ext cx="1.0" cy="4572000"/>
          </a:xfrm>
          <a:prstGeom prst="line">
            <a:avLst/>
          </a:prstGeom>
          <a:ln w="12700">
            <a:solidFill>
              <a:srgbClr val="D8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33799" y="1152000"/>
            <a:ext cx="1433159" cy="396000"/>
          </a:xfrm>
          <a:prstGeom prst="roundRect">
            <a:avLst>
              <a:gd name="adj" fmla="val 15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 backend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50379.214285715" y="1548000"/>
            <a:ext cx="1.0" cy="4572000"/>
          </a:xfrm>
          <a:prstGeom prst="line">
            <a:avLst/>
          </a:prstGeom>
          <a:ln w="12700">
            <a:solidFill>
              <a:srgbClr val="D8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10959" y="1152000"/>
            <a:ext cx="1433159" cy="396000"/>
          </a:xfrm>
          <a:prstGeom prst="roundRect">
            <a:avLst>
              <a:gd name="adj" fmla="val 15000"/>
            </a:avLst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ToolDispatcher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827539.07142857" y="1548000"/>
            <a:ext cx="1.0" cy="4572000"/>
          </a:xfrm>
          <a:prstGeom prst="line">
            <a:avLst/>
          </a:prstGeom>
          <a:ln w="12700">
            <a:solidFill>
              <a:srgbClr val="D8E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364579.9285714286" y="1656000"/>
            <a:ext cx="1577159.8571428573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00579" y="1476000"/>
            <a:ext cx="150515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prompt 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41739.785714286" y="1980000"/>
            <a:ext cx="1577159.8571428568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77739" y="1800000"/>
            <a:ext cx="150515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process_prompt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18899.642857143" y="2304000"/>
            <a:ext cx="1577159.8571428563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54899" y="2124000"/>
            <a:ext cx="150515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append user message (file)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18899.642857143" y="2628000"/>
            <a:ext cx="1577159.8571428563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54899" y="2448000"/>
            <a:ext cx="150515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load_session_context(id, 120)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18899.642857143" y="2952000"/>
            <a:ext cx="3154319.7142857136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54899" y="2772000"/>
            <a:ext cx="308231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load_relevant_for_prompt(prompt, 5)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899.642857143" y="3276000"/>
            <a:ext cx="1.0" cy="162000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26899" y="3222000"/>
            <a:ext cx="18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C2540"/>
                </a:solidFill>
                <a:latin typeface="Calibri"/>
              </a:rPr>
              <a:t>build system prompt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18899.642857143" y="3600000"/>
            <a:ext cx="4731479.571428572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54899" y="3420000"/>
            <a:ext cx="465947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chat(messages, tools)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4518899.642857143" y="3924000"/>
            <a:ext cx="4731479.571428572" cy="1"/>
          </a:xfrm>
          <a:prstGeom prst="line">
            <a:avLst/>
          </a:prstGeom>
          <a:ln w="12700">
            <a:solidFill>
              <a:srgbClr val="1C254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54899" y="3744000"/>
            <a:ext cx="465947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tool_call OR text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18899.642857143" y="4248000"/>
            <a:ext cx="6308639.428571428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54899" y="4068000"/>
            <a:ext cx="623663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execute(name, args)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4518899.642857143" y="4572000"/>
            <a:ext cx="6308639.428571428" cy="1"/>
          </a:xfrm>
          <a:prstGeom prst="line">
            <a:avLst/>
          </a:prstGeom>
          <a:ln w="12700">
            <a:solidFill>
              <a:srgbClr val="1C254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54899" y="4392000"/>
            <a:ext cx="623663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result JSON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18899.642857143" y="4896000"/>
            <a:ext cx="4731479.571428572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54899" y="4716000"/>
            <a:ext cx="465947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next turn with result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4518899.642857143" y="5219999"/>
            <a:ext cx="4731479.571428572" cy="1"/>
          </a:xfrm>
          <a:prstGeom prst="line">
            <a:avLst/>
          </a:prstGeom>
          <a:ln w="12700">
            <a:solidFill>
              <a:srgbClr val="1C254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54899" y="5039999"/>
            <a:ext cx="465947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final text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18899.642857143" y="5544000"/>
            <a:ext cx="1577159.8571428563" cy="1"/>
          </a:xfrm>
          <a:prstGeom prst="line">
            <a:avLst/>
          </a:prstGeom>
          <a:ln w="127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4899" y="5364000"/>
            <a:ext cx="150515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append assistant message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2941739.785714286" y="5868000"/>
            <a:ext cx="1577159.8571428568" cy="1"/>
          </a:xfrm>
          <a:prstGeom prst="line">
            <a:avLst/>
          </a:prstGeom>
          <a:ln w="12700">
            <a:solidFill>
              <a:srgbClr val="1C254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977739" y="5688000"/>
            <a:ext cx="150515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return text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1364579.9285714286" y="6192000"/>
            <a:ext cx="1577159.8571428573" cy="1"/>
          </a:xfrm>
          <a:prstGeom prst="line">
            <a:avLst/>
          </a:prstGeom>
          <a:ln w="12700">
            <a:solidFill>
              <a:srgbClr val="1C254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400579" y="6012000"/>
            <a:ext cx="1505159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C2540"/>
                </a:solidFill>
                <a:latin typeface="Calibri"/>
              </a:rPr>
              <a:t>response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00" y="6228000"/>
            <a:ext cx="11040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A99"/>
                </a:solidFill>
                <a:latin typeface="Calibri"/>
              </a:rPr>
              <a:t>The inner loop (chat → tool → chat) repeats up to policy caps. Memory injection happens before the first LLM call.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Building the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How seven data sources become one system prompt, every 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The context stack — what the LLM actually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SYSTEM PROMPT, ASSEMBLED EVERY TURN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188000"/>
            <a:ext cx="108000" cy="46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84000" y="1188000"/>
            <a:ext cx="4932000" cy="46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54000"/>
          <a:lstStyle/>
          <a:p>
            <a:r>
              <a:rPr sz="1300" b="1">
                <a:solidFill>
                  <a:srgbClr val="1428A0"/>
                </a:solidFill>
              </a:rPr>
              <a:t>1  Base identity</a:t>
            </a:r>
          </a:p>
          <a:p>
            <a:r>
              <a:rPr sz="1100">
                <a:solidFill>
                  <a:srgbClr val="1C2540"/>
                </a:solidFill>
              </a:rPr>
              <a:t>"You are TizenClaw." — who you 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1720800"/>
            <a:ext cx="108000" cy="46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84000" y="1720800"/>
            <a:ext cx="4932000" cy="46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54000"/>
          <a:lstStyle/>
          <a:p>
            <a:r>
              <a:rPr sz="1300" b="1">
                <a:solidFill>
                  <a:srgbClr val="1428A0"/>
                </a:solidFill>
              </a:rPr>
              <a:t>2  SOUL persona</a:t>
            </a:r>
          </a:p>
          <a:p>
            <a:r>
              <a:rPr sz="1100">
                <a:solidFill>
                  <a:srgbClr val="1C2540"/>
                </a:solidFill>
              </a:rPr>
              <a:t>Optional tone and voice — how you speak.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00" y="2253600"/>
            <a:ext cx="108000" cy="468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84000" y="2253600"/>
            <a:ext cx="4932000" cy="46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54000"/>
          <a:lstStyle/>
          <a:p>
            <a:r>
              <a:rPr sz="1300" b="1">
                <a:solidFill>
                  <a:srgbClr val="2189FF"/>
                </a:solidFill>
              </a:rPr>
              <a:t>3  Tool declarations</a:t>
            </a:r>
          </a:p>
          <a:p>
            <a:r>
              <a:rPr sz="1100">
                <a:solidFill>
                  <a:srgbClr val="1C2540"/>
                </a:solidFill>
              </a:rPr>
              <a:t>Every callable tool (name + JSON-schema input).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" y="2786400"/>
            <a:ext cx="108000" cy="468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84000" y="2786400"/>
            <a:ext cx="4932000" cy="46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54000"/>
          <a:lstStyle/>
          <a:p>
            <a:r>
              <a:rPr sz="1300" b="1">
                <a:solidFill>
                  <a:srgbClr val="2189FF"/>
                </a:solidFill>
              </a:rPr>
              <a:t>4  Textual skills</a:t>
            </a:r>
          </a:p>
          <a:p>
            <a:r>
              <a:rPr sz="1100">
                <a:solidFill>
                  <a:srgbClr val="1C2540"/>
                </a:solidFill>
              </a:rPr>
              <a:t>Markdown guides — HOW to use the tools wisely.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3319200"/>
            <a:ext cx="108000" cy="468000"/>
          </a:xfrm>
          <a:prstGeom prst="rect">
            <a:avLst/>
          </a:prstGeom>
          <a:solidFill>
            <a:srgbClr val="2E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84000" y="3319200"/>
            <a:ext cx="4932000" cy="46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54000"/>
          <a:lstStyle/>
          <a:p>
            <a:r>
              <a:rPr sz="1300" b="1">
                <a:solidFill>
                  <a:srgbClr val="2E7D4A"/>
                </a:solidFill>
              </a:rPr>
              <a:t>5  Long-term memory</a:t>
            </a:r>
          </a:p>
          <a:p>
            <a:r>
              <a:rPr sz="1100">
                <a:solidFill>
                  <a:srgbClr val="1C2540"/>
                </a:solidFill>
              </a:rPr>
              <a:t>Top-N memories, fetched by semantic similarity.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3852000"/>
            <a:ext cx="108000" cy="468000"/>
          </a:xfrm>
          <a:prstGeom prst="rect">
            <a:avLst/>
          </a:prstGeom>
          <a:solidFill>
            <a:srgbClr val="2E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84000" y="3852000"/>
            <a:ext cx="4932000" cy="46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54000"/>
          <a:lstStyle/>
          <a:p>
            <a:r>
              <a:rPr sz="1300" b="1">
                <a:solidFill>
                  <a:srgbClr val="2E7D4A"/>
                </a:solidFill>
              </a:rPr>
              <a:t>6  Runtime context</a:t>
            </a:r>
          </a:p>
          <a:p>
            <a:r>
              <a:rPr sz="1100">
                <a:solidFill>
                  <a:srgbClr val="1C2540"/>
                </a:solidFill>
              </a:rPr>
              <a:t>Battery, network, model, time — current state.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4384800"/>
            <a:ext cx="108000" cy="46800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84000" y="4384800"/>
            <a:ext cx="4932000" cy="46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54000"/>
          <a:lstStyle/>
          <a:p>
            <a:r>
              <a:rPr sz="1300" b="1">
                <a:solidFill>
                  <a:srgbClr val="6B7A99"/>
                </a:solidFill>
              </a:rPr>
              <a:t>7  Conversation history</a:t>
            </a:r>
          </a:p>
          <a:p>
            <a:r>
              <a:rPr sz="1100">
                <a:solidFill>
                  <a:srgbClr val="1C2540"/>
                </a:solidFill>
              </a:rPr>
              <a:t>Last 120 turns; compacted if the budget is tight.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4000" y="1188000"/>
            <a:ext cx="5712119" cy="4860000"/>
          </a:xfrm>
          <a:prstGeom prst="roundRect">
            <a:avLst>
              <a:gd name="adj" fmla="val 3000"/>
            </a:avLst>
          </a:prstGeom>
          <a:solidFill>
            <a:srgbClr val="F4F7FD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84000" y="1296000"/>
            <a:ext cx="535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428A0"/>
                </a:solidFill>
                <a:latin typeface="Calibri"/>
              </a:rPr>
              <a:t>Why rebuild every turn?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4000" y="1691999"/>
            <a:ext cx="5352119" cy="42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C2540"/>
                </a:solidFill>
                <a:latin typeface="Calibri"/>
              </a:rPr>
              <a:t>LLMs are stateless. Every API call has to carry the full picture.
Each of the 7 layers answers one question for the model:
    WHO am I?            layers 1–2
    WHAT can I do?       layers 3–4
    WHAT do I know?      layer 5
    WHERE am I?          layer 6
    WHAT have we said?   layer 7
This separation is why the architecture stays small: you change
the data (a SKILL.md, a role JSON, a memory), not the code.
The whole stack is rebuilt for each turn, so a new skill is live
the next time the user sends a prompt — no restart needed.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Windowing and compaction — fitting context inside a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4 · CONTEXT ECONOMY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4644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MAX_CONTEXT_MESSAGES = 120 — at most 120 past messages are considered.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CONTEXT_TOKEN_BUDGET = 0 — unset by default; if set, SizedContextEngine enforces it.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CONTEXT_COMPACT_THRESHOLD = 0.90 — when 90 % of the budget is reached, compaction kicks in.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Compaction writes a compacted.md snapshot and starts the next turn from that summary plus the tail.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MAX_PREFETCHED_SKILLS = 3 — only three SKILL.md guides are injected per turn (prefetch heuristic).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DEFAULT_TOOL_RESULT_BUDGET_CHARS = 4000 — any single tool result over 4 KB is truncated before replay.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The agent never forgets — it summarizes. Old detail remains on disk; the LLM sees the compressed version.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Memory and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Short-term transcripts, long-term facts, and why neither lives in the same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Sessions live on disk — files, not SQL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MEMORY &amp; SESSIONS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00" y="1188000"/>
            <a:ext cx="5760000" cy="360000"/>
          </a:xfrm>
          <a:prstGeom prst="roundRect">
            <a:avLst>
              <a:gd name="adj" fmla="val 5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0000" y="118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onsolas"/>
              </a:rPr>
              <a:t>{data_dir}/sessions/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000" y="1602000"/>
            <a:ext cx="223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0">
                <a:solidFill>
                  <a:srgbClr val="1C2540"/>
                </a:solidFill>
                <a:latin typeface="Consolas"/>
              </a:rPr>
              <a:t>session_index.db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4000" y="1602000"/>
            <a:ext cx="3132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SQLite — session metadata + token_usage (Anthropic cache cols)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000" y="2026800"/>
            <a:ext cx="223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1428A0"/>
                </a:solidFill>
                <a:latin typeface="Consolas"/>
              </a:rPr>
              <a:t>default/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4000" y="2026800"/>
            <a:ext cx="3132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per-session directory (one per session_id)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000" y="2451600"/>
            <a:ext cx="223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0">
                <a:solidFill>
                  <a:srgbClr val="1C2540"/>
                </a:solidFill>
                <a:latin typeface="Consolas"/>
              </a:rPr>
              <a:t>  2026-04-22.md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4000" y="2451600"/>
            <a:ext cx="3132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today's conversation as Markdown (append-only)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000" y="2876400"/>
            <a:ext cx="223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0">
                <a:solidFill>
                  <a:srgbClr val="1C2540"/>
                </a:solidFill>
                <a:latin typeface="Consolas"/>
              </a:rPr>
              <a:t>  transcript.jsonl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4000" y="2876400"/>
            <a:ext cx="3132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structured event log (tool calls, tool results)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000" y="3301200"/>
            <a:ext cx="223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0">
                <a:solidFill>
                  <a:srgbClr val="1C2540"/>
                </a:solidFill>
                <a:latin typeface="Consolas"/>
              </a:rPr>
              <a:t>  compacted.md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4000" y="3301200"/>
            <a:ext cx="3132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snapshot after compaction (atomic .tmp → rename)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000" y="3726000"/>
            <a:ext cx="223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0">
                <a:solidFill>
                  <a:srgbClr val="1C2540"/>
                </a:solidFill>
                <a:latin typeface="Consolas"/>
              </a:rPr>
              <a:t>  compacted.jsonl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4000" y="3726000"/>
            <a:ext cx="3132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structured snapshot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000" y="4150800"/>
            <a:ext cx="2232000" cy="39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1428A0"/>
                </a:solidFill>
                <a:latin typeface="Consolas"/>
              </a:rPr>
              <a:t>user-telegram-42/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4000" y="4150800"/>
            <a:ext cx="3132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another session — fully isolated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4000" y="1188000"/>
            <a:ext cx="4992119" cy="4860000"/>
          </a:xfrm>
          <a:prstGeom prst="roundRect">
            <a:avLst>
              <a:gd name="adj" fmla="val 3000"/>
            </a:avLst>
          </a:prstGeom>
          <a:solidFill>
            <a:srgbClr val="F4F7FD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04000" y="1296000"/>
            <a:ext cx="4632119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428A0"/>
                </a:solidFill>
                <a:latin typeface="Calibri"/>
              </a:rPr>
              <a:t>Why files?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4000" y="1656000"/>
            <a:ext cx="463211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2189FF"/>
                </a:solidFill>
                <a:latin typeface="Calibri"/>
              </a:rPr>
              <a:t>■  Atomic appends on flash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8000" y="1907999"/>
            <a:ext cx="448812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A single write call either lands or doesn't — no torn rows.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4000" y="2303999"/>
            <a:ext cx="463211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2189FF"/>
                </a:solidFill>
                <a:latin typeface="Calibri"/>
              </a:rPr>
              <a:t>■  Crash-safe compaction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8000" y="2555998"/>
            <a:ext cx="448812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.tmp → rename + fsync. The old snapshot stays valid until the new one is on disk.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4000" y="2951998"/>
            <a:ext cx="463211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2189FF"/>
                </a:solidFill>
                <a:latin typeface="Calibri"/>
              </a:rPr>
              <a:t>■  Human-readable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8000" y="3203997"/>
            <a:ext cx="448812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tail -f on today's .md to watch the conversation live.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4000" y="3599997"/>
            <a:ext cx="463211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2189FF"/>
                </a:solidFill>
                <a:latin typeface="Calibri"/>
              </a:rPr>
              <a:t>■  Easy backup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8000" y="3851996"/>
            <a:ext cx="448812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Stop the daemon, copy the directory, restart. No mysqldump.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4000" y="4247996"/>
            <a:ext cx="4632119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2189FF"/>
                </a:solidFill>
                <a:latin typeface="Calibri"/>
              </a:rPr>
              <a:t>■  SQL still used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8000" y="4499995"/>
            <a:ext cx="448812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Only for session_index (metadata) and token_usage (analytics).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Long-term memory — retrieve what's relevant, not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5 · MEMORYSTORE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A persistent key-value store at {data_dir}/memory/memories.db with an ONNX MiniLM-L6-v2 model (384-dim) alongside.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On each prompt (unless the prompt is JSON-only or opts out) MemoryStore.load_relevant_for_prompt(prompt, top_k = 5, threshold = 0.1) runs.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It encodes the prompt locally via on-device embeddings, finds the most similar memories by cosine similarity, formats them as a &lt;long_term_memory&gt; block.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Facts are written by the LLM itself through remember / forget style tools — the agent learns by using its own memory tools.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No cloud dependency for retrieval — the model lives on device, falls back gracefully if libonnxruntime.so is missing.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Token usage table stores Anthropic prompt-cache metrics separately, so caching behavior is observable.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Tools, skills, and the LLM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Three abstractions the agent composes to do its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Tools vs skills — the two-track extensibility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6 · EXTEND BY CODE, EXTEND BY WORDS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260000"/>
            <a:ext cx="5376059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Tools (executable)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76059" cy="4752000"/>
          </a:xfrm>
          <a:prstGeom prst="roundRect">
            <a:avLst>
              <a:gd name="adj" fmla="val 2000"/>
            </a:avLst>
          </a:prstGeom>
          <a:solidFill>
            <a:srgbClr val="F4F7FD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08000"/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Real code — a binary or script.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Declared in tool.md with a JSON-schema input.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Invoked by name; ToolDispatcher spawns the subprocess.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Adds new capabilities to the agent.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428A0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Deployed to /opt/usr/share/tizen-tools/; discovered by ToolWatcher.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059" y="1260000"/>
            <a:ext cx="5376059" cy="32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36000" tIns="18000" bIns="18000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Skills (textual)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59" y="1584000"/>
            <a:ext cx="5376059" cy="4752000"/>
          </a:xfrm>
          <a:prstGeom prst="roundRect">
            <a:avLst>
              <a:gd name="adj" fmla="val 2000"/>
            </a:avLst>
          </a:prstGeom>
          <a:solidFill>
            <a:srgbClr val="F4F7FD"/>
          </a:solidFill>
          <a:ln w="9525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08000"/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Markdown — no code at all.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Inserted into the system prompt as guidance.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Teach the LLM HOW and WHEN to use existing tools.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Add judgment, not capability.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189FF"/>
                </a:solidFill>
              </a:rPr>
              <a:t>• </a:t>
            </a:r>
            <a:r>
              <a:rPr sz="1300">
                <a:solidFill>
                  <a:srgbClr val="1C2540"/>
                </a:solidFill>
                <a:latin typeface="Calibri"/>
              </a:rPr>
              <a:t>Hot-reloaded from skills/&lt;name&gt;/SKILL.md — push a file, it's live.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ToolDecl — what a registered tool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6 · THE TOOL CONTRACT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260000"/>
            <a:ext cx="2428826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4826" y="1260000"/>
            <a:ext cx="198722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2047" y="1260000"/>
            <a:ext cx="662407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000" y="1584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0826" y="1584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8047" y="1584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The identifier the LLM uses to call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1926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000" y="1926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826" y="1926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string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8047" y="1926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What it does — the LLM reads this to decide when to pick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" y="2268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000" y="2268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parameters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0826" y="2268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JSON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8047" y="2268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Input shape (types, required, enums). Used to validate LLM args.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2610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000" y="2610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binary_path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0826" y="2610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8047" y="2610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Absolute path to the executable (default /usr/bin/&lt;name&gt;).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" y="2952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2000" y="2952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timeout_secs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0826" y="2952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integer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8047" y="2952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Max run time before the subprocess is killed (default 30).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" y="3294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2000" y="3294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side_effect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0826" y="3294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enum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8047" y="3294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none | reversible | irreversible. Gates irreversible calls by policy.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A tool.md manifest is parsed at startup into a ToolDecl. Skills add prose; tools add capability.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LlmBackend — one abstraction, many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6 · THE PROVIDER LAYER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A single Rust trait defines four methods: initialize(config), chat(messages, tools, system_prompt), get_name, shutdown.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Built-in implementations: GeminiBackend, OpenAiBackend (covers xAI too), AnthropicBackend, OllamaBackend.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Configuration lives in llm_config.json — one active_backend plus an ordered fallback_backends list.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A CircuitBreakerState struct tracks consecutive_failures per backend. After 2 failures, that backend is paused for 60 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chat_with_fallback tries the primary; on failure it walks the fallback chain; on total failure it surfaces "All LLM backends failed".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Third-party providers can ship as .so plugins — the daemon loads them through a small C ABI at startup.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Safety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Independent gates, rejection lanes, and circuit breakers — so one mistake doesn't compound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Layered defense — a tool call's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SAFETY IS NOT A SINGLE CHECK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" y="2700000"/>
            <a:ext cx="1908000" cy="1152000"/>
          </a:xfrm>
          <a:prstGeom prst="roundRect">
            <a:avLst>
              <a:gd name="adj" fmla="val 4000"/>
            </a:avLst>
          </a:prstGeom>
          <a:solidFill>
            <a:srgbClr val="F4F7FD"/>
          </a:solidFill>
          <a:ln w="22225">
            <a:solidFill>
              <a:srgbClr val="6B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108000" rIns="90000"/>
          <a:lstStyle/>
          <a:p>
            <a:pPr algn="l"/>
            <a:r>
              <a:rPr sz="1200" b="1">
                <a:solidFill>
                  <a:srgbClr val="6B7A99"/>
                </a:solidFill>
              </a:rPr>
              <a:t>LLM OUTPUT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returns a
tool_call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999" y="2700000"/>
            <a:ext cx="1908000" cy="115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108000" rIns="90000"/>
          <a:lstStyle/>
          <a:p>
            <a:pPr algn="l"/>
            <a:r>
              <a:rPr sz="1200" b="1">
                <a:solidFill>
                  <a:srgbClr val="1428A0"/>
                </a:solidFill>
              </a:rPr>
              <a:t>L1  SafetyGuard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blocked tools,
dangerous arg
patterns, irreversible flag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7998" y="2700000"/>
            <a:ext cx="1908000" cy="115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108000" rIns="90000"/>
          <a:lstStyle/>
          <a:p>
            <a:pPr algn="l"/>
            <a:r>
              <a:rPr sz="1200" b="1">
                <a:solidFill>
                  <a:srgbClr val="2189FF"/>
                </a:solidFill>
              </a:rPr>
              <a:t>L2  ToolPolicy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loop detection
(same call repeats),
idle 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27997" y="2700000"/>
            <a:ext cx="1908000" cy="115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E7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108000" rIns="90000"/>
          <a:lstStyle/>
          <a:p>
            <a:pPr algn="l"/>
            <a:r>
              <a:rPr sz="1200" b="1">
                <a:solidFill>
                  <a:srgbClr val="2E7D4A"/>
                </a:solidFill>
              </a:rPr>
              <a:t>L3  safety_bounds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min/max ranges,
rate limits,
role restrictions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7996" y="2700000"/>
            <a:ext cx="1908000" cy="1152000"/>
          </a:xfrm>
          <a:prstGeom prst="roundRect">
            <a:avLst>
              <a:gd name="adj" fmla="val 4000"/>
            </a:avLst>
          </a:prstGeom>
          <a:solidFill>
            <a:srgbClr val="F4F7FD"/>
          </a:solidFill>
          <a:ln w="22225"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tIns="108000" rIns="90000"/>
          <a:lstStyle/>
          <a:p>
            <a:pPr algn="l"/>
            <a:r>
              <a:rPr sz="1200" b="1">
                <a:solidFill>
                  <a:srgbClr val="1428A0"/>
                </a:solidFill>
              </a:rPr>
              <a:t>ToolDispatcher</a:t>
            </a:r>
          </a:p>
          <a:p>
            <a:pPr algn="l"/>
            <a:r>
              <a:rPr sz="1100">
                <a:solidFill>
                  <a:srgbClr val="1C2540"/>
                </a:solidFill>
              </a:rPr>
              <a:t>executes in a
timed subprocess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56000" y="3276000.0"/>
            <a:ext cx="251999" cy="1.0"/>
          </a:xfrm>
          <a:prstGeom prst="line">
            <a:avLst/>
          </a:prstGeom>
          <a:ln w="254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15999" y="3276000.0"/>
            <a:ext cx="251999" cy="1.0"/>
          </a:xfrm>
          <a:prstGeom prst="line">
            <a:avLst/>
          </a:prstGeom>
          <a:ln w="254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75998" y="3276000.0"/>
            <a:ext cx="251999" cy="1.0"/>
          </a:xfrm>
          <a:prstGeom prst="line">
            <a:avLst/>
          </a:prstGeom>
          <a:ln w="254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35997" y="3276000.0"/>
            <a:ext cx="251999" cy="1.0"/>
          </a:xfrm>
          <a:prstGeom prst="line">
            <a:avLst/>
          </a:prstGeom>
          <a:ln w="25400">
            <a:solidFill>
              <a:srgbClr val="1C25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07999" y="4536000"/>
            <a:ext cx="6227998" cy="72000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5875">
            <a:solidFill>
              <a:srgbClr val="B7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/>
          <a:lstStyle/>
          <a:p>
            <a:r>
              <a:rPr sz="1300" b="1">
                <a:solidFill>
                  <a:srgbClr val="B72F2F"/>
                </a:solidFill>
              </a:rPr>
              <a:t>If ANY layer rejects</a:t>
            </a:r>
          </a:p>
          <a:p>
            <a:r>
              <a:rPr sz="1100">
                <a:solidFill>
                  <a:srgbClr val="1C2540"/>
                </a:solidFill>
              </a:rPr>
              <a:t>Control never reaches the dispatcher. An error is fed back to the LLM,
which can re-plan or apologize. The user's device stays safe.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61999.0" y="3852000"/>
            <a:ext cx="1.0" cy="684000"/>
          </a:xfrm>
          <a:prstGeom prst="line">
            <a:avLst/>
          </a:prstGeom>
          <a:ln w="12700">
            <a:solidFill>
              <a:srgbClr val="B72F2F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21998.0" y="3852000"/>
            <a:ext cx="1.0" cy="684000"/>
          </a:xfrm>
          <a:prstGeom prst="line">
            <a:avLst/>
          </a:prstGeom>
          <a:ln w="12700">
            <a:solidFill>
              <a:srgbClr val="B72F2F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81997.0" y="3852000"/>
            <a:ext cx="1.0" cy="684000"/>
          </a:xfrm>
          <a:prstGeom prst="line">
            <a:avLst/>
          </a:prstGeom>
          <a:ln w="12700">
            <a:solidFill>
              <a:srgbClr val="B72F2F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6000" y="5580000"/>
            <a:ext cx="11040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6B7A99"/>
                </a:solidFill>
                <a:latin typeface="Calibri"/>
              </a:rPr>
              <a:t>Layers are independent. Each can reject alone. No single check carries the whole load.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SafetyGuard — what each check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7 · LAYER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260000"/>
            <a:ext cx="2428826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4826" y="1260000"/>
            <a:ext cx="198722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2047" y="1260000"/>
            <a:ext cx="662407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000" y="1584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blocked_tools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0826" y="1584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empty set (config-extended)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8047" y="1584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config JSON can ban any tool by name.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1926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000" y="1926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blocked_args (substring)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826" y="1926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rm -rf /, mkfs, dd if=, shutdown, reboot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8047" y="1926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Tool args containing these fragments are rejected.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" y="2268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000" y="2268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SideEffect = Irreversible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0826" y="2268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blocked when allow_irreversible =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8047" y="2268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Tools flagged as irreversible never run by default.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2610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000" y="2610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max_tool_calls_per_session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0826" y="2610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8047" y="2610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Soft cap to prevent runaway agents within one conversation.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" y="2952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2000" y="2952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prompt injection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0826" y="2952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'ignore previous instructions', 'you are now', 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8047" y="2952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Heuristic scan of the user input; warns but doesn't always block.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ToolPolicy — loop and idle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7 · LAYER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260000"/>
            <a:ext cx="2428826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4826" y="1260000"/>
            <a:ext cx="198722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2047" y="1260000"/>
            <a:ext cx="662407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000" y="1584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max_repeat_count (hash of name+args)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0826" y="1584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8047" y="1584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Reject the 4th identical tool call — prevents infinite loops.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1926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000" y="1926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idle window (same output N times)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826" y="1926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size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8047" y="1926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Detect when the agent is making calls but not progressing.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" y="2268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000" y="2268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blocked_skills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0826" y="2268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empty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8047" y="2268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JSON-configured hard blocks that override any prompt.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2610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000" y="2610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risk_overrides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0826" y="2610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per-tool risk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8047" y="2610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Tag tools as low / normal / high for future gating.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" y="2952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2000" y="2952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per-session 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0826" y="2952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call &amp; idle history keyed by session_id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8047" y="2952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One misbehaving session can't DoS another.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" y="3294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12000" y="3294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reset_session / reset_idle_tracking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40826" y="3294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on new prompt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8047" y="3294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Counters start fresh each conversation.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Plus safety_bounds.json — per-tool min/max ranges, rate limits, and role-based tool restrictions (guest / child / admin).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Circuit breaker — don't waste tokens on a dead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7 · LLM RESILIENCE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Every LLM backend has its own CircuitBreakerState, tracked in a HashMap keyed by backend name.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On each chat() call, AgentCore checks is_backend_available before dialing the provider.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Failure threshold: 2 consecutive errors.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Cool-down: 60 seconds before the backend is retried.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Success resets consecutive_failures to 0 — one good response heals the breaker.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State is in memory only — a daemon restart clears all breakers; the first request to a dead backend will still fail once.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Multi-agent and 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Orchestrator, specialists, and events that trigger the agent without a user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Orchestrator + specialists — divide and delegate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MULTI-AGENT IN PRACTICE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6059" y="1260000"/>
            <a:ext cx="3600000" cy="792000"/>
          </a:xfrm>
          <a:prstGeom prst="roundRect">
            <a:avLst>
              <a:gd name="adj" fmla="val 4000"/>
            </a:avLst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200">
                <a:solidFill>
                  <a:srgbClr val="B0C0EA"/>
                </a:solidFill>
              </a:rPr>
              <a:t>analyzes the request · plans · delegates via run_supervisor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061" y="2988000"/>
            <a:ext cx="2700000" cy="6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r>
              <a:rPr sz="1200" b="1">
                <a:solidFill>
                  <a:srgbClr val="2189FF"/>
                </a:solidFill>
              </a:rPr>
              <a:t>device_monitor</a:t>
            </a:r>
          </a:p>
          <a:p>
            <a:r>
              <a:rPr sz="1000">
                <a:solidFill>
                  <a:srgbClr val="1C2540"/>
                </a:solidFill>
              </a:rPr>
              <a:t>battery, temp, memory, storage,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3060" y="2988000"/>
            <a:ext cx="2700000" cy="6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r>
              <a:rPr sz="1200" b="1">
                <a:solidFill>
                  <a:srgbClr val="2189FF"/>
                </a:solidFill>
              </a:rPr>
              <a:t>knowledge_retriever</a:t>
            </a:r>
          </a:p>
          <a:p>
            <a:r>
              <a:rPr sz="1000">
                <a:solidFill>
                  <a:srgbClr val="1C2540"/>
                </a:solidFill>
              </a:rPr>
              <a:t>semantic search ·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9059" y="2988000"/>
            <a:ext cx="2700000" cy="6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r>
              <a:rPr sz="1200" b="1">
                <a:solidFill>
                  <a:srgbClr val="2189FF"/>
                </a:solidFill>
              </a:rPr>
              <a:t>task_planner</a:t>
            </a:r>
          </a:p>
          <a:p>
            <a:r>
              <a:rPr sz="1000">
                <a:solidFill>
                  <a:srgbClr val="1C2540"/>
                </a:solidFill>
              </a:rPr>
              <a:t>scheduled tasks · pipelines ·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5058" y="2988000"/>
            <a:ext cx="2700000" cy="6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r>
              <a:rPr sz="1200" b="1">
                <a:solidFill>
                  <a:srgbClr val="2189FF"/>
                </a:solidFill>
              </a:rPr>
              <a:t>skill_manager</a:t>
            </a:r>
          </a:p>
          <a:p>
            <a:r>
              <a:rPr sz="1000">
                <a:solidFill>
                  <a:srgbClr val="1C2540"/>
                </a:solidFill>
              </a:rPr>
              <a:t>creates new Bash skills at runtime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060" y="3816000"/>
            <a:ext cx="2700000" cy="6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r>
              <a:rPr sz="1200" b="1">
                <a:solidFill>
                  <a:srgbClr val="2189FF"/>
                </a:solidFill>
              </a:rPr>
              <a:t>security_auditor</a:t>
            </a:r>
          </a:p>
          <a:p>
            <a:r>
              <a:rPr sz="1000">
                <a:solidFill>
                  <a:srgbClr val="1C2540"/>
                </a:solidFill>
              </a:rPr>
              <a:t>audit logs · risk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46059" y="3816000"/>
            <a:ext cx="2700000" cy="6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r>
              <a:rPr sz="1200" b="1">
                <a:solidFill>
                  <a:srgbClr val="2189FF"/>
                </a:solidFill>
              </a:rPr>
              <a:t>recovery_agent</a:t>
            </a:r>
          </a:p>
          <a:p>
            <a:r>
              <a:rPr sz="1000">
                <a:solidFill>
                  <a:srgbClr val="1C2540"/>
                </a:solidFill>
              </a:rPr>
              <a:t>failure diagnosis ·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2058" y="3816000"/>
            <a:ext cx="2700000" cy="6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1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tIns="54000"/>
          <a:lstStyle/>
          <a:p>
            <a:r>
              <a:rPr sz="1200" b="1">
                <a:solidFill>
                  <a:srgbClr val="2189FF"/>
                </a:solidFill>
              </a:rPr>
              <a:t>file_operator</a:t>
            </a:r>
          </a:p>
          <a:p>
            <a:r>
              <a:rPr sz="1000">
                <a:solidFill>
                  <a:srgbClr val="1C2540"/>
                </a:solidFill>
              </a:rPr>
              <a:t>read · write · execute_code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857061.0" y="2052000"/>
            <a:ext cx="4238998.5" cy="936000"/>
          </a:xfrm>
          <a:prstGeom prst="line">
            <a:avLst/>
          </a:prstGeom>
          <a:ln w="1270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683060.0" y="2052000"/>
            <a:ext cx="1412999.5" cy="936000"/>
          </a:xfrm>
          <a:prstGeom prst="line">
            <a:avLst/>
          </a:prstGeom>
          <a:ln w="1270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6059.5" y="2052000"/>
            <a:ext cx="1412999.5" cy="936000"/>
          </a:xfrm>
          <a:prstGeom prst="line">
            <a:avLst/>
          </a:prstGeom>
          <a:ln w="1270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6059.5" y="2052000"/>
            <a:ext cx="4238998.5" cy="936000"/>
          </a:xfrm>
          <a:prstGeom prst="line">
            <a:avLst/>
          </a:prstGeom>
          <a:ln w="12700">
            <a:solidFill>
              <a:srgbClr val="2189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270060.5" y="2052000"/>
            <a:ext cx="2825999.0" cy="1764000"/>
          </a:xfrm>
          <a:prstGeom prst="line">
            <a:avLst/>
          </a:prstGeom>
          <a:ln w="12700">
            <a:solidFill>
              <a:srgbClr val="2189FF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6059.5" y="2052000"/>
            <a:ext cx="1.0" cy="1764000"/>
          </a:xfrm>
          <a:prstGeom prst="line">
            <a:avLst/>
          </a:prstGeom>
          <a:ln w="12700">
            <a:solidFill>
              <a:srgbClr val="2189FF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96059.5" y="2052000"/>
            <a:ext cx="2825999.0" cy="1764000"/>
          </a:xfrm>
          <a:prstGeom prst="line">
            <a:avLst/>
          </a:prstGeom>
          <a:ln w="12700">
            <a:solidFill>
              <a:srgbClr val="2189FF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6000" y="5256000"/>
            <a:ext cx="11040119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C2540"/>
                </a:solidFill>
              </a:rPr>
              <a:t>Each specialist has a focused system prompt and a restricted tool set. </a:t>
            </a:r>
            <a:r>
              <a:rPr sz="1200">
                <a:solidFill>
                  <a:srgbClr val="1C2540"/>
                </a:solidFill>
              </a:rPr>
              <a:t>Results flow back up; the orchestrator synthesizes the final answer.</a:t>
            </a:r>
          </a:p>
          <a:p>
            <a:pPr algn="ctr">
              <a:spcBef>
                <a:spcPts val="600"/>
              </a:spcBef>
            </a:pPr>
            <a:r>
              <a:rPr sz="1200" i="1">
                <a:solidFill>
                  <a:srgbClr val="6B7A99"/>
                </a:solidFill>
              </a:rPr>
              <a:t>Smaller focused prompts are faster, cheaper, and easier to audit than one monolithic agent.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Delegation flow — how run_supervisor actually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8 · DELEGATION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The orchestrator's system prompt describes all specialists and their delegation rules.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When appropriate, the LLM returns a tool_call to run_supervisor(agent_name, query, strategy = sequential | parallel).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AgentCore spawns a fresh sub-session (a new session_id) with the specialist's SessionPromptProfile — its own system_prompt, tool filter, and max_iterations.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Tool calls inside the sub-session are filtered by the role's allowed_tools list — a file_operator cannot schedule tasks.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Results flow back as JSON; the orchestrator receives them as an ordinary tool result and continues its own loop.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The agents/roles JSON mismatch from earlier versions is resolved: load_roles now accepts both keys, and built-in roles are always seeded.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EventBus + AutonomousTrigger — the agent acts unprompted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8 · AUTONOMY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4644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EventBus is a std::thread pub/sub inside the daemon. Queue cap 1000; oldest events drop on overflow.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Typed events: AppInstalled/Uninstalled/Launched/Terminated, BatteryChanged, NetworkChanged, ScreenStateChanged, Custom(String).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Subscribers register per EventType or use subscribe_all. The dispatcher runs callbacks on its own thread.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AutonomousTrigger reads rules from autonomous_trigger.json: event_type, condition, action_prompt, session_id, enabled.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On match, the daemon injects the action_prompt into a background session and runs a full ReAct loop.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Examples: battery &lt; 20 % → suggest power save; app installed → offer setup; storage low → propose cleanup.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The bus is armed at boot (EventBus.start). Event publishers from infra/ are still being wired — a known gap.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Real-world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One binary on many platforms, extension paths, and trade-offs worth naming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Platform abstraction — one binary, many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9 · PORTABILITY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At boot, PlatformContext::detect looks for a .so platform plugin via dlopen (Tizen ships one with dlog + pkgmgr + app_control).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If no plugin is found, GenericLinuxPlatform takes over — stderr logging, /etc/os-release reads, apt/dnf stubs.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The agent code only talks to traits: PlatformLogger, SystemInfoProvider, PackageManagerProvider, AppControlProvider.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This means laptop development and on-device production use the same binary and the same code path.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Tizen builds go through GBS cross-compilation; the Rust side stays platform-neutral.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Plugins are selected by priority — if multiple claim compatibility, the highest priority wins (vendors can override).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Four ways to extend TizenClaw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9 · HOW YOU PLUG 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1260000"/>
            <a:ext cx="2428826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Extension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04826" y="1260000"/>
            <a:ext cx="198722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Complexity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92047" y="1260000"/>
            <a:ext cx="6624071" cy="324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36000" tIns="18000" bIns="18000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How it lands in the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12000" y="1584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Textual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0826" y="1584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Easy · no rebuild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8047" y="1584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Push a SKILL.md file to skills/&lt;name&gt;/. ToolWatcher picks it 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1926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000" y="1926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Executable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826" y="1926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Medium · no rebuild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8047" y="1926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Ship a binary plus tool.md manifest to tools/&lt;name&gt;/.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" y="2268000"/>
            <a:ext cx="11040119" cy="342000"/>
          </a:xfrm>
          <a:prstGeom prst="rect">
            <a:avLst/>
          </a:prstGeom>
          <a:solidFill>
            <a:srgbClr val="F4F7FD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000" y="2268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Agent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0826" y="2268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Medium · config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8047" y="2268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Add JSON entry to agent_roles.json; restart to seed SessionPromptProfile.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2610000"/>
            <a:ext cx="11040119" cy="34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2000" y="2610000"/>
            <a:ext cx="2356826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428A0"/>
                </a:solidFill>
                <a:latin typeface="Calibri"/>
              </a:rPr>
              <a:t>LLM backend plugin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0826" y="2610000"/>
            <a:ext cx="191522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Hard · native .so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8047" y="2610000"/>
            <a:ext cx="6552071" cy="34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C2540"/>
                </a:solidFill>
                <a:latin typeface="Calibri"/>
              </a:rPr>
              <a:t>Implement the C ABI (llm_plugin_init, llm_plugin_chat, …), drop the .so into the plugin dir, register in llm_config.json.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All four extension points respect the same safety layers. Nothing is a special case.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Design trade-offs worth naming out 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9 · HONEST ABOUT CHOICES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Files over SQL for transcripts — simpler compaction and crash safety, at the cost of query-ability.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Fine-grained locks over one global mutex — more concurrency, at the cost of more careful lock ordering.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Policy-as-data (JSON) over policy-as-code — tunable at runtime, harder to statically verify.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Subprocess tools over in-process calls — isolation and timeouts, at the cost of process-spawn overhead.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Multi-backend LLM chain — resilience and choice, at the cost of abstraction complexity and more code paths.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Markdown skills over hand-crafted prompt sections — extensible and shareable, at the cost of some prompt-token bloat.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1980000"/>
            <a:ext cx="360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2189FF"/>
                </a:solidFill>
                <a:latin typeface="Calibri"/>
              </a:rPr>
              <a:t>PART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414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First principles, recapped — and where to go deeper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532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First principles — the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PART 10 · TAKEAWAYS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5076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An agent is a LOOP — reason, act, observe, repeat — not a single API call.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Tools are the agent's hands. Without them, you have only a chat session.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The system prompt is rebuilt every turn from seven independent layers. Change the data, not the code.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Short-term memory is a file tree. Long-term memory is retrieved by meaning, not by keyword.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Safety lives in layers. SafetyGuard + ToolPolicy + bounds + circuit breaker — each acts alone.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Multi-agent is a tool: the orchestrator delegates to specialists with restricted tool sets.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Autonomy is opt-in: an event bus plus configurable triggers let the agent react to the device.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189FF"/>
                </a:solidFill>
                <a:latin typeface="Calibri"/>
              </a:rPr>
              <a:t>■  </a:t>
            </a:r>
            <a:r>
              <a:rPr sz="1200">
                <a:solidFill>
                  <a:srgbClr val="1C2540"/>
                </a:solidFill>
                <a:latin typeface="Calibri"/>
              </a:rPr>
              <a:t>Extensibility is declarative: markdown skills, JSON roles, tool manifests, .so plugins.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0000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360000"/>
            <a:ext cx="11040119" cy="57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2600" b="1">
                <a:solidFill>
                  <a:srgbClr val="1428A0"/>
                </a:solidFill>
                <a:latin typeface="Calibri"/>
              </a:rPr>
              <a:t>Further reading — the docs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44000"/>
            <a:ext cx="11040119" cy="216000"/>
          </a:xfrm>
          <a:prstGeom prst="rect">
            <a:avLst/>
          </a:prstGeom>
          <a:noFill/>
        </p:spPr>
        <p:txBody>
          <a:bodyPr wrap="square" lIns="36000" rIns="36000" tIns="18000" bIns="18000" anchor="b">
            <a:spAutoFit/>
          </a:bodyPr>
          <a:lstStyle/>
          <a:p>
            <a:pPr algn="l"/>
            <a:r>
              <a:rPr sz="1000" b="1">
                <a:solidFill>
                  <a:srgbClr val="2189FF"/>
                </a:solidFill>
                <a:latin typeface="Calibri"/>
              </a:rPr>
              <a:t>NEXT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1008000"/>
            <a:ext cx="432000" cy="1"/>
          </a:xfrm>
          <a:prstGeom prst="line">
            <a:avLst/>
          </a:prstGeom>
          <a:ln w="31750">
            <a:solidFill>
              <a:srgbClr val="21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36119" y="6516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B7A99"/>
                </a:solidFill>
                <a:latin typeface="Calibr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6516000"/>
            <a:ext cx="720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B7A99"/>
                </a:solidFill>
                <a:latin typeface="Calibri"/>
              </a:rPr>
              <a:t>TizenClaw · First 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260000"/>
            <a:ext cx="11040119" cy="4644000"/>
          </a:xfrm>
          <a:prstGeom prst="rect">
            <a:avLst/>
          </a:prstGeom>
          <a:noFill/>
        </p:spPr>
        <p:txBody>
          <a:bodyPr wrap="square" lIns="36000" t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01 — Overview: module inventory with integration status badges.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04 — Agentic AI concepts: the ReAct loop in more detail.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11 — Memory &amp; session deep dive: the full prompt-build flow with sequence diagrams.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12 — Multi-agent orchestration: specialists, delegation, workflows vs pipelines.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13 — Safety &amp; policy: three layers in detail with wiring notes.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14 — Event bus &amp; triggers: autonomous behavior in practice.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2189FF"/>
                </a:solidFill>
                <a:latin typeface="Calibri"/>
              </a:rPr>
              <a:t>■  </a:t>
            </a:r>
            <a:r>
              <a:rPr sz="1300">
                <a:solidFill>
                  <a:srgbClr val="1C2540"/>
                </a:solidFill>
                <a:latin typeface="Calibri"/>
              </a:rPr>
              <a:t>15 — Extending TizenClaw: four step-by-step recipes.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6048000"/>
            <a:ext cx="11040119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A99"/>
                </a:solidFill>
                <a:latin typeface="Calibri"/>
              </a:rPr>
              <a:t>The source is the only authoritative spec — docs are a map, not the territory.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6000" y="2520000"/>
            <a:ext cx="11040119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3960000"/>
            <a:ext cx="11040119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B0C0EA"/>
                </a:solidFill>
                <a:latin typeface="Calibri"/>
              </a:rPr>
              <a:t>Questions, critiques, and contributions are welcome.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" y="5148000"/>
            <a:ext cx="2880000" cy="54000"/>
          </a:xfrm>
          <a:prstGeom prst="rect">
            <a:avLst/>
          </a:prstGeom>
          <a:solidFill>
            <a:srgbClr val="21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76000" y="5292000"/>
            <a:ext cx="11040119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189FF"/>
                </a:solidFill>
                <a:latin typeface="Calibri"/>
              </a:rPr>
              <a:t>Further reading: docs_detailed/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36119" y="6462000"/>
            <a:ext cx="1080000" cy="1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00" b="0">
                <a:solidFill>
                  <a:srgbClr val="9AABD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